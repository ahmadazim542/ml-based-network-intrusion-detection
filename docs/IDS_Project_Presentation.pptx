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15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9692640" y="4754880"/>
            <a:ext cx="1005840" cy="36576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98480" y="4754880"/>
            <a:ext cx="914400" cy="64008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0972800" y="5394960"/>
            <a:ext cx="640080" cy="91440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9875520" y="6309360"/>
            <a:ext cx="1097280" cy="18288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0" y="5120640"/>
            <a:ext cx="182880" cy="137160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8869680" y="5120640"/>
            <a:ext cx="822960" cy="73152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612880" y="5394960"/>
            <a:ext cx="457200" cy="118872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0" y="4480560"/>
            <a:ext cx="548640" cy="640080"/>
          </a:xfrm>
          <a:prstGeom prst="line">
            <a:avLst/>
          </a:prstGeom>
          <a:noFill/>
          <a:ln w="12700">
            <a:solidFill>
              <a:srgbClr val="3243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9488" y="504748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52760" y="4709160"/>
            <a:ext cx="91440" cy="91440"/>
          </a:xfrm>
          <a:prstGeom prst="ellipse">
            <a:avLst/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553444" y="5335524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31652" y="6268212"/>
            <a:ext cx="82296" cy="82296"/>
          </a:xfrm>
          <a:prstGeom prst="ellipse">
            <a:avLst/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25228" y="6441948"/>
            <a:ext cx="100584" cy="100584"/>
          </a:xfrm>
          <a:prstGeom prst="ellipse">
            <a:avLst/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28532" y="581101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024360" y="6537960"/>
            <a:ext cx="91440" cy="91440"/>
          </a:xfrm>
          <a:prstGeom prst="ellipse">
            <a:avLst/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02852" y="4439412"/>
            <a:ext cx="82296" cy="82296"/>
          </a:xfrm>
          <a:prstGeom prst="ellipse">
            <a:avLst/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280160" y="749808"/>
            <a:ext cx="704088" cy="256032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84248" y="749808"/>
            <a:ext cx="640080" cy="448056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176272" y="1197864"/>
            <a:ext cx="448056" cy="64008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1408176" y="1837944"/>
            <a:ext cx="768096" cy="128016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80160" y="1005840"/>
            <a:ext cx="128016" cy="96012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704088" y="1005840"/>
            <a:ext cx="576072" cy="512064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24328" y="1197864"/>
            <a:ext cx="320040" cy="832104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" y="557784"/>
            <a:ext cx="384048" cy="448056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07008" y="932688"/>
            <a:ext cx="146304" cy="146304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38528" y="704088"/>
            <a:ext cx="91440" cy="91440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4892" y="1138428"/>
            <a:ext cx="118872" cy="118872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35124" y="1796796"/>
            <a:ext cx="82296" cy="82296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57884" y="1915668"/>
            <a:ext cx="100584" cy="100584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2940" y="1476756"/>
            <a:ext cx="82296" cy="82296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898648" y="1984248"/>
            <a:ext cx="91440" cy="91440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54964" y="516636"/>
            <a:ext cx="82296" cy="82296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•  NETWORK SECURITY PROJECT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2331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Network Intrusion Detection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benchmark on CICIDS2017 — detection accuracy, explainability, and real-world deployability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E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[Ahmad Azim &amp; Pawan Kumar]   •   [Computer Networks]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Project?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rules to learned detection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0195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systems like Snort only catch attacks they already know. This project builds a machine-learning IDS that learns the statistical patterns of malicious traffic — so it can generalize to attacks it hasn’t seen before.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12064" cy="512064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3452774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3192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network flows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07008" y="35844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traffic flow as benign or malicious using engineered statistical features.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512064" cy="512064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/bar-chart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" y="4321454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4187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5 classifiers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207008" y="44531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under identical preprocessing, splits, and metrics — a fair fight, not a single run.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074920"/>
            <a:ext cx="512064" cy="512064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assets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" y="519013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50566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accuracy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207008" y="53218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explainability (SHAP) and real deployability (latency, model size) to the comparison.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23760" y="1691640"/>
            <a:ext cx="4434840" cy="4206240"/>
          </a:xfrm>
          <a:prstGeom prst="roundRect">
            <a:avLst>
              <a:gd name="adj" fmla="val 1739"/>
            </a:avLst>
          </a:prstGeom>
          <a:solidFill>
            <a:srgbClr val="EDF2FA"/>
          </a:solidFill>
          <a:ln/>
          <a:effectLst>
            <a:outerShdw blurRad="101600" dist="38100" dir="5400000" algn="bl" rotWithShape="0">
              <a:srgbClr val="16233F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452360" y="1947672"/>
            <a:ext cx="1760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2.8M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7452360" y="2624328"/>
            <a:ext cx="1760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network flows analyzed (CICIDS2017)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441180" y="1920240"/>
            <a:ext cx="0" cy="1645920"/>
          </a:xfrm>
          <a:prstGeom prst="line">
            <a:avLst/>
          </a:prstGeom>
          <a:noFill/>
          <a:ln w="12700">
            <a:solidFill>
              <a:srgbClr val="D3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669780" y="1947672"/>
            <a:ext cx="1760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9669780" y="2624328"/>
            <a:ext cx="1760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benchmarked head-to-head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452360" y="3794760"/>
            <a:ext cx="1760220" cy="0"/>
          </a:xfrm>
          <a:prstGeom prst="line">
            <a:avLst/>
          </a:prstGeom>
          <a:noFill/>
          <a:ln w="12700">
            <a:solidFill>
              <a:srgbClr val="D3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452360" y="4050792"/>
            <a:ext cx="1760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78+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7452360" y="4727448"/>
            <a:ext cx="1760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flow features engineered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441180" y="4023360"/>
            <a:ext cx="0" cy="1645920"/>
          </a:xfrm>
          <a:prstGeom prst="line">
            <a:avLst/>
          </a:prstGeom>
          <a:noFill/>
          <a:ln w="12700">
            <a:solidFill>
              <a:srgbClr val="D3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669780" y="3794760"/>
            <a:ext cx="1760220" cy="0"/>
          </a:xfrm>
          <a:prstGeom prst="line">
            <a:avLst/>
          </a:prstGeom>
          <a:noFill/>
          <a:ln w="12700">
            <a:solidFill>
              <a:srgbClr val="D3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669780" y="4050792"/>
            <a:ext cx="1760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31" name="Text 26"/>
          <p:cNvSpPr/>
          <p:nvPr/>
        </p:nvSpPr>
        <p:spPr>
          <a:xfrm>
            <a:off x="9669780" y="4727448"/>
            <a:ext cx="1760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 detected: DoS, DDoS, Brute‑Force, Web, Botnet, Infiltration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Network Intrusion Detection  |  Project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Will Be Implemented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same data and rules for every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23060" y="2468880"/>
            <a:ext cx="8945575" cy="0"/>
          </a:xfrm>
          <a:prstGeom prst="line">
            <a:avLst/>
          </a:prstGeom>
          <a:noFill/>
          <a:ln w="25400">
            <a:solidFill>
              <a:srgbClr val="D3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3876" y="2139696"/>
            <a:ext cx="658368" cy="658368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CICIDS2017, balance rare attack classes (SMOTE), select top features.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30270" y="2139696"/>
            <a:ext cx="658368" cy="65836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862" y="23042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503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Models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85034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XGBoost, SVM, MLP — identical splits.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766664" y="2139696"/>
            <a:ext cx="658368" cy="658368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/check-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56" y="23042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1428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021428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ROC-AUC, false-positive rate, and per-class breakdown.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003057" y="2139696"/>
            <a:ext cx="658368" cy="65836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assets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649" y="230428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57821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Benchmark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257821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plus latency / model-size deployability check.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0239451" y="2139696"/>
            <a:ext cx="658368" cy="658368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assets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043" y="230428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94215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Generalization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494215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best model on an independent, unseen dataset.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777240" y="59893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/ Scikit-learn  •  XGBoost  •  imbalanced-learn (SMOTE)  •  SHAP  • 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Be the Outcome?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the teacher/reviewer actually sees, and what we expect to find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75488" cy="47548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ons/fil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2072945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benchmark report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70432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classifiers ranked on accuracy, latency, and interpretability.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475488" cy="47548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2969057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insights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70432" y="3090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which traffic signals drive detection decisions.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58184"/>
            <a:ext cx="475488" cy="47548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/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3865169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recommendation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70432" y="39867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for real-time inline use vs. offline batch analysis.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654296"/>
            <a:ext cx="475488" cy="475488"/>
          </a:xfrm>
          <a:prstGeom prst="ellipse">
            <a:avLst/>
          </a:prstGeom>
          <a:solidFill>
            <a:srgbClr val="F2A93B"/>
          </a:solidFill>
          <a:ln/>
          <a:effectLst>
            <a:outerShdw blurRad="76200" dist="25400" dir="5400000" algn="bl" rotWithShape="0">
              <a:srgbClr val="0A12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assets/icons/refresh-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5" y="476128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46268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generalization verdict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70432" y="48828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performance holds on data the model never trained on.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46520" y="164592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(HYPOTHESES)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46520" y="1993392"/>
            <a:ext cx="5196535" cy="530352"/>
          </a:xfrm>
          <a:prstGeom prst="roundRect">
            <a:avLst>
              <a:gd name="adj" fmla="val 8621"/>
            </a:avLst>
          </a:prstGeom>
          <a:solidFill>
            <a:srgbClr val="EDF2FA"/>
          </a:solidFill>
          <a:ln w="12700">
            <a:solidFill>
              <a:srgbClr val="E2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611112" y="1993392"/>
            <a:ext cx="4867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accuracy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611112" y="2240280"/>
            <a:ext cx="4867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~98%+ across ensemble models (RF, XGBoost)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46520" y="2651760"/>
            <a:ext cx="51965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611112" y="2651760"/>
            <a:ext cx="4867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Rare-class recall (pre-SMOTE)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611112" y="2898648"/>
            <a:ext cx="4867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shows why per-class metrics matter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46520" y="3310128"/>
            <a:ext cx="5196535" cy="530352"/>
          </a:xfrm>
          <a:prstGeom prst="roundRect">
            <a:avLst>
              <a:gd name="adj" fmla="val 8621"/>
            </a:avLst>
          </a:prstGeom>
          <a:solidFill>
            <a:srgbClr val="EDF2FA"/>
          </a:solidFill>
          <a:ln w="12700">
            <a:solidFill>
              <a:srgbClr val="E2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611112" y="3310128"/>
            <a:ext cx="4867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latency / accuracy trade-off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611112" y="3557016"/>
            <a:ext cx="4867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Random Forest or XGBoost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446520" y="3968496"/>
            <a:ext cx="5196535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11112" y="3968496"/>
            <a:ext cx="4867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accuracy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611112" y="4215384"/>
            <a:ext cx="4867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drop — quantifies the generalization gap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Network Intrusion Detection  |  Outcome &amp; Deliverables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972800" y="548640"/>
            <a:ext cx="754380" cy="27432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727180" y="548640"/>
            <a:ext cx="685800" cy="48006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V="1">
            <a:off x="11932920" y="1028700"/>
            <a:ext cx="480060" cy="68580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1109960" y="1714500"/>
            <a:ext cx="822960" cy="13716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0" y="822960"/>
            <a:ext cx="137160" cy="102870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0355580" y="822960"/>
            <a:ext cx="617220" cy="54864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12980" y="1028700"/>
            <a:ext cx="342900" cy="89154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61320" y="342900"/>
            <a:ext cx="411480" cy="480060"/>
          </a:xfrm>
          <a:prstGeom prst="line">
            <a:avLst/>
          </a:prstGeom>
          <a:noFill/>
          <a:ln w="12700">
            <a:solidFill>
              <a:srgbClr val="2A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99648" y="749808"/>
            <a:ext cx="146304" cy="146304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681460" y="502920"/>
            <a:ext cx="91440" cy="91440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353544" y="969264"/>
            <a:ext cx="118872" cy="118872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91772" y="1673352"/>
            <a:ext cx="82296" cy="82296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059668" y="1801368"/>
            <a:ext cx="100584" cy="100584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314432" y="1330452"/>
            <a:ext cx="82296" cy="82296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710160" y="1874520"/>
            <a:ext cx="91440" cy="91440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20172" y="301752"/>
            <a:ext cx="82296" cy="82296"/>
          </a:xfrm>
          <a:prstGeom prst="ellipse">
            <a:avLst/>
          </a:prstGeom>
          <a:solidFill>
            <a:srgbClr val="EDF2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Key Takeaway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1005840" y="2148840"/>
            <a:ext cx="10180015" cy="0"/>
          </a:xfrm>
          <a:prstGeom prst="line">
            <a:avLst/>
          </a:prstGeom>
          <a:noFill/>
          <a:ln w="25400">
            <a:solidFill>
              <a:srgbClr val="3E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256" y="2048256"/>
            <a:ext cx="201168" cy="20116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-599389" y="2350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599389" y="2624328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8594" y="2048256"/>
            <a:ext cx="201168" cy="20116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93949" y="2350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93949" y="2624328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91933" y="2048256"/>
            <a:ext cx="201168" cy="20116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87288" y="2350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87288" y="2624328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Explainability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085271" y="2048256"/>
            <a:ext cx="201168" cy="20116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80626" y="235000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80626" y="2624328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Report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194560" y="3794760"/>
            <a:ext cx="7772400" cy="0"/>
          </a:xfrm>
          <a:prstGeom prst="line">
            <a:avLst/>
          </a:prstGeom>
          <a:noFill/>
          <a:ln w="12700">
            <a:solidFill>
              <a:srgbClr val="3E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54480" y="4069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benchmark that doesn’t just detect intrusions — it tells you which model to trust, and why.”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[Ahmad Azim &amp; Pawan Kumar]   •   [Computer Networks]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493</Words>
  <Application>Microsoft Macintosh PowerPoint</Application>
  <PresentationFormat>Widescreen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Ahmad Azim</cp:lastModifiedBy>
  <cp:revision>4</cp:revision>
  <dcterms:created xsi:type="dcterms:W3CDTF">2026-08-25T04:11:13Z</dcterms:created>
  <dcterms:modified xsi:type="dcterms:W3CDTF">2026-08-25T05:33:34Z</dcterms:modified>
</cp:coreProperties>
</file>