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Flows per attack family after cleaning (log scale)</a:t>
            </a:r>
          </a:p>
        </c:rich>
      </c:tx>
      <c:layout/>
      <c:overlay val="0"/>
    </c:title>
    <c:autoTitleDeleted val="0"/>
    <c:plotArea>
      <c:barChart>
        <c:barDir val="col"/>
        <c:grouping val="clustered"/>
        <c:ser>
          <c:idx val="0"/>
          <c:order val="0"/>
          <c:tx>
            <c:strRef>
              <c:f>Sheet1!$B$1</c:f>
              <c:strCache>
                <c:ptCount val="1"/>
                <c:pt idx="0">
                  <c:v>Flows after cleaning</c:v>
                </c:pt>
              </c:strCache>
            </c:strRef>
          </c:tx>
          <c:spPr>
            <a:solidFill>
              <a:srgbClr val="1B2A4A"/>
            </a:solidFill>
            <a:ln>
              <a:noFill/>
            </a:ln>
          </c:spPr>
          <c:dPt>
            <c:idx val="7"/>
            <c:spPr>
              <a:solidFill>
                <a:srgbClr val="C0392B"/>
              </a:solidFill>
            </c:spPr>
          </c:dPt>
          <c:dPt>
            <c:idx val="8"/>
            <c:spPr>
              <a:solidFill>
                <a:srgbClr val="C0392B"/>
              </a:solidFill>
            </c:spPr>
          </c:dPt>
          <c:cat>
            <c:strRef>
              <c:f>Sheet1!$A$2:$A$10</c:f>
              <c:strCache>
                <c:ptCount val="9"/>
                <c:pt idx="0">
                  <c:v>Benign</c:v>
                </c:pt>
                <c:pt idx="1">
                  <c:v>DoS</c:v>
                </c:pt>
                <c:pt idx="2">
                  <c:v>DDoS</c:v>
                </c:pt>
                <c:pt idx="3">
                  <c:v>PortScan</c:v>
                </c:pt>
                <c:pt idx="4">
                  <c:v>BruteForce</c:v>
                </c:pt>
                <c:pt idx="5">
                  <c:v>Botnet</c:v>
                </c:pt>
                <c:pt idx="6">
                  <c:v>WebAttack</c:v>
                </c:pt>
                <c:pt idx="7">
                  <c:v>Infiltration</c:v>
                </c:pt>
                <c:pt idx="8">
                  <c:v>Heartbleed</c:v>
                </c:pt>
              </c:strCache>
            </c:strRef>
          </c:cat>
          <c:val>
            <c:numRef>
              <c:f>Sheet1!$B$2:$B$10</c:f>
              <c:numCache>
                <c:formatCode>General</c:formatCode>
                <c:ptCount val="9"/>
                <c:pt idx="0">
                  <c:v>1432533</c:v>
                </c:pt>
                <c:pt idx="1">
                  <c:v>171634</c:v>
                </c:pt>
                <c:pt idx="2">
                  <c:v>95144</c:v>
                </c:pt>
                <c:pt idx="3">
                  <c:v>7695</c:v>
                </c:pt>
                <c:pt idx="4">
                  <c:v>6933</c:v>
                </c:pt>
                <c:pt idx="5">
                  <c:v>736</c:v>
                </c:pt>
                <c:pt idx="6">
                  <c:v>104</c:v>
                </c:pt>
                <c:pt idx="7">
                  <c:v>36</c:v>
                </c:pt>
                <c:pt idx="8">
                  <c:v>11</c:v>
                </c:pt>
              </c:numCache>
            </c:numRef>
          </c:val>
        </c:ser>
        <c:dLbls>
          <c:numFmt formatCode="#,##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C9D6EC"/>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logBase val="10"/>
          <c:max val="10000000.0"/>
          <c:min val="1.0"/>
        </c:scaling>
        <c:delete val="0"/>
        <c:axPos val="l"/>
        <c:majorGridlines>
          <c:spPr>
            <a:ln>
              <a:solidFill>
                <a:srgbClr val="E5E7EB"/>
              </a:solidFill>
            </a:ln>
          </c:spPr>
        </c:majorGridlines>
        <c:numFmt formatCode="#,##0" sourceLinked="0"/>
        <c:majorTickMark val="out"/>
        <c:minorTickMark val="none"/>
        <c:tickLblPos val="nextTo"/>
        <c:spPr>
          <a:ln>
            <a:noFill/>
          </a:ln>
        </c:spPr>
        <c:txPr>
          <a:bodyPr/>
          <a:lstStyle/>
          <a:p>
            <a:pPr>
              <a:defRPr sz="1100">
                <a:solidFill>
                  <a:srgbClr val="5B6B82"/>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Macro-F1 (y-axis starts at 0.80)</a:t>
            </a:r>
          </a:p>
        </c:rich>
      </c:tx>
      <c:layout/>
      <c:overlay val="0"/>
    </c:title>
    <c:autoTitleDeleted val="0"/>
    <c:plotArea>
      <c:barChart>
        <c:barDir val="col"/>
        <c:grouping val="clustered"/>
        <c:ser>
          <c:idx val="0"/>
          <c:order val="0"/>
          <c:tx>
            <c:strRef>
              <c:f>Sheet1!$B$1</c:f>
              <c:strCache>
                <c:ptCount val="1"/>
                <c:pt idx="0">
                  <c:v>Random split</c:v>
                </c:pt>
              </c:strCache>
            </c:strRef>
          </c:tx>
          <c:spPr>
            <a:solidFill>
              <a:srgbClr val="1B2A4A"/>
            </a:solidFill>
            <a:ln>
              <a:noFill/>
            </a:ln>
          </c:spPr>
          <c:cat>
            <c:strRef>
              <c:f>Sheet1!$A$2:$A$6</c:f>
              <c:strCache>
                <c:ptCount val="5"/>
                <c:pt idx="0">
                  <c:v>Logistic Reg.</c:v>
                </c:pt>
                <c:pt idx="1">
                  <c:v>RBF-SVM</c:v>
                </c:pt>
                <c:pt idx="2">
                  <c:v>MLP</c:v>
                </c:pt>
                <c:pt idx="3">
                  <c:v>Random Forest</c:v>
                </c:pt>
                <c:pt idx="4">
                  <c:v>XGBoost</c:v>
                </c:pt>
              </c:strCache>
            </c:strRef>
          </c:cat>
          <c:val>
            <c:numRef>
              <c:f>Sheet1!$B$2:$B$6</c:f>
              <c:numCache>
                <c:formatCode>General</c:formatCode>
                <c:ptCount val="5"/>
                <c:pt idx="0">
                  <c:v>0.9805660630862711</c:v>
                </c:pt>
                <c:pt idx="1">
                  <c:v>0.9908228143042044</c:v>
                </c:pt>
                <c:pt idx="2">
                  <c:v>0.9940952223632732</c:v>
                </c:pt>
                <c:pt idx="3">
                  <c:v>0.9993209427294734</c:v>
                </c:pt>
                <c:pt idx="4">
                  <c:v>0.996199644025238</c:v>
                </c:pt>
              </c:numCache>
            </c:numRef>
          </c:val>
        </c:ser>
        <c:ser>
          <c:idx val="1"/>
          <c:order val="1"/>
          <c:tx>
            <c:strRef>
              <c:f>Sheet1!$C$1</c:f>
              <c:strCache>
                <c:ptCount val="1"/>
                <c:pt idx="0">
                  <c:v>Time-block split</c:v>
                </c:pt>
              </c:strCache>
            </c:strRef>
          </c:tx>
          <c:spPr>
            <a:solidFill>
              <a:srgbClr val="F2A93B"/>
            </a:solidFill>
            <a:ln>
              <a:noFill/>
            </a:ln>
          </c:spPr>
          <c:cat>
            <c:strRef>
              <c:f>Sheet1!$A$2:$A$6</c:f>
              <c:strCache>
                <c:ptCount val="5"/>
                <c:pt idx="0">
                  <c:v>Logistic Reg.</c:v>
                </c:pt>
                <c:pt idx="1">
                  <c:v>RBF-SVM</c:v>
                </c:pt>
                <c:pt idx="2">
                  <c:v>MLP</c:v>
                </c:pt>
                <c:pt idx="3">
                  <c:v>Random Forest</c:v>
                </c:pt>
                <c:pt idx="4">
                  <c:v>XGBoost</c:v>
                </c:pt>
              </c:strCache>
            </c:strRef>
          </c:cat>
          <c:val>
            <c:numRef>
              <c:f>Sheet1!$C$2:$C$6</c:f>
              <c:numCache>
                <c:formatCode>General</c:formatCode>
                <c:ptCount val="5"/>
                <c:pt idx="0">
                  <c:v>0.8899492716950864</c:v>
                </c:pt>
                <c:pt idx="1">
                  <c:v>0.9058507700163732</c:v>
                </c:pt>
                <c:pt idx="2">
                  <c:v>0.927685807477172</c:v>
                </c:pt>
                <c:pt idx="3">
                  <c:v>0.9377503732675392</c:v>
                </c:pt>
                <c:pt idx="4">
                  <c:v>0.9357358598735472</c:v>
                </c:pt>
              </c:numCache>
            </c:numRef>
          </c:val>
        </c:ser>
        <c:dLbls>
          <c:numFmt formatCode="0.000" sourceLinked="0"/>
          <c:txPr>
            <a:bodyPr/>
            <a:lstStyle/>
            <a:p>
              <a:pPr>
                <a:defRPr sz="1100">
                  <a:solidFill>
                    <a:srgbClr val="1F2937"/>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C9D6EC"/>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1.02"/>
          <c:min val="0.8"/>
        </c:scaling>
        <c:delete val="0"/>
        <c:axPos val="l"/>
        <c:majorGridlines>
          <c:spPr>
            <a:ln>
              <a:solidFill>
                <a:srgbClr val="E5E7EB"/>
              </a:solidFill>
            </a:ln>
          </c:spPr>
        </c:majorGridlines>
        <c:numFmt formatCode="0.00" sourceLinked="0"/>
        <c:majorTickMark val="out"/>
        <c:minorTickMark val="none"/>
        <c:tickLblPos val="nextTo"/>
        <c:spPr>
          <a:ln>
            <a:noFill/>
          </a:ln>
        </c:spPr>
        <c:txPr>
          <a:bodyPr/>
          <a:lstStyle/>
          <a:p>
            <a:pPr>
              <a:defRPr sz="1100">
                <a:solidFill>
                  <a:srgbClr val="5B6B82"/>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93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Median single-flow latency (ms, lower is better)</a:t>
            </a:r>
          </a:p>
        </c:rich>
      </c:tx>
      <c:layout/>
      <c:overlay val="0"/>
    </c:title>
    <c:autoTitleDeleted val="0"/>
    <c:plotArea>
      <c:barChart>
        <c:barDir val="bar"/>
        <c:grouping val="clustered"/>
        <c:ser>
          <c:idx val="0"/>
          <c:order val="0"/>
          <c:tx>
            <c:strRef>
              <c:f>Sheet1!$B$1</c:f>
              <c:strCache>
                <c:ptCount val="1"/>
                <c:pt idx="0">
                  <c:v>Median latency (ms)</c:v>
                </c:pt>
              </c:strCache>
            </c:strRef>
          </c:tx>
          <c:spPr>
            <a:solidFill>
              <a:srgbClr val="1B2A4A"/>
            </a:solidFill>
            <a:ln>
              <a:noFill/>
            </a:ln>
          </c:spPr>
          <c:dPt>
            <c:idx val="0"/>
            <c:spPr>
              <a:solidFill>
                <a:srgbClr val="F2A93B"/>
              </a:solidFill>
            </c:spPr>
          </c:dPt>
          <c:dPt>
            <c:idx val="1"/>
            <c:spPr>
              <a:solidFill>
                <a:srgbClr val="F2A93B"/>
              </a:solidFill>
            </c:spPr>
          </c:dPt>
          <c:cat>
            <c:strRef>
              <c:f>Sheet1!$A$2:$A$8</c:f>
              <c:strCache>
                <c:ptCount val="7"/>
                <c:pt idx="0">
                  <c:v>XGB (ONNX)</c:v>
                </c:pt>
                <c:pt idx="1">
                  <c:v>RF (ONNX)</c:v>
                </c:pt>
                <c:pt idx="2">
                  <c:v>XGBoost</c:v>
                </c:pt>
                <c:pt idx="3">
                  <c:v>Random Forest</c:v>
                </c:pt>
                <c:pt idx="4">
                  <c:v>MLP</c:v>
                </c:pt>
                <c:pt idx="5">
                  <c:v>RBF-SVM</c:v>
                </c:pt>
                <c:pt idx="6">
                  <c:v>Logistic Reg.</c:v>
                </c:pt>
              </c:strCache>
            </c:strRef>
          </c:cat>
          <c:val>
            <c:numRef>
              <c:f>Sheet1!$B$2:$B$8</c:f>
              <c:numCache>
                <c:formatCode>General</c:formatCode>
                <c:ptCount val="7"/>
                <c:pt idx="0">
                  <c:v>0.0218334607779979</c:v>
                </c:pt>
                <c:pt idx="1">
                  <c:v>0.0107705127447843</c:v>
                </c:pt>
                <c:pt idx="2">
                  <c:v>0.3041250165551901</c:v>
                </c:pt>
                <c:pt idx="3">
                  <c:v>2.781646093353629</c:v>
                </c:pt>
                <c:pt idx="4">
                  <c:v>0.1829999964684248</c:v>
                </c:pt>
                <c:pt idx="5">
                  <c:v>0.2308539114892482</c:v>
                </c:pt>
                <c:pt idx="6">
                  <c:v>0.1565001439303159</c:v>
                </c:pt>
              </c:numCache>
            </c:numRef>
          </c:val>
        </c:ser>
        <c:dLbls>
          <c:numFmt formatCode="0.000" sourceLinked="0"/>
          <c:txPr>
            <a:bodyPr/>
            <a:lstStyle/>
            <a:p>
              <a:pPr>
                <a:defRPr sz="11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9D6EC"/>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delete val="0"/>
        <c:axPos val="b"/>
        <c:majorGridlines>
          <c:spPr>
            <a:ln>
              <a:solidFill>
                <a:srgbClr val="E5E7EB"/>
              </a:solidFill>
            </a:ln>
          </c:spPr>
        </c:majorGridlines>
        <c:numFmt formatCode="0.0" sourceLinked="0"/>
        <c:majorTickMark val="out"/>
        <c:minorTickMark val="none"/>
        <c:tickLblPos val="nextTo"/>
        <c:spPr>
          <a:ln>
            <a:noFill/>
          </a:ln>
        </c:spPr>
        <c:txPr>
          <a:bodyPr/>
          <a:lstStyle/>
          <a:p>
            <a:pPr>
              <a:defRPr sz="1100">
                <a:solidFill>
                  <a:srgbClr val="5B6B82"/>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Mean |SHAP value| across all classes</a:t>
            </a:r>
          </a:p>
        </c:rich>
      </c:tx>
      <c:layout/>
      <c:overlay val="0"/>
    </c:title>
    <c:autoTitleDeleted val="0"/>
    <c:plotArea>
      <c:barChart>
        <c:barDir val="bar"/>
        <c:grouping val="clustered"/>
        <c:ser>
          <c:idx val="0"/>
          <c:order val="0"/>
          <c:tx>
            <c:strRef>
              <c:f>Sheet1!$B$1</c:f>
              <c:strCache>
                <c:ptCount val="1"/>
                <c:pt idx="0">
                  <c:v>mean |SHAP|</c:v>
                </c:pt>
              </c:strCache>
            </c:strRef>
          </c:tx>
          <c:spPr>
            <a:solidFill>
              <a:srgbClr val="1B2A4A"/>
            </a:solidFill>
            <a:ln>
              <a:noFill/>
            </a:ln>
          </c:spPr>
          <c:dPt>
            <c:idx val="8"/>
            <c:spPr>
              <a:solidFill>
                <a:srgbClr val="C0392B"/>
              </a:solidFill>
            </c:spPr>
          </c:dPt>
          <c:cat>
            <c:strRef>
              <c:f>Sheet1!$A$2:$A$11</c:f>
              <c:strCache>
                <c:ptCount val="10"/>
                <c:pt idx="0">
                  <c:v>Bwd PSH Flags</c:v>
                </c:pt>
                <c:pt idx="1">
                  <c:v>Down/Up Ratio</c:v>
                </c:pt>
                <c:pt idx="2">
                  <c:v>Total Length of Fwd Packet</c:v>
                </c:pt>
                <c:pt idx="3">
                  <c:v>Fwd Packet Length Mean</c:v>
                </c:pt>
                <c:pt idx="4">
                  <c:v>Fwd Packet Length Std</c:v>
                </c:pt>
                <c:pt idx="5">
                  <c:v>Bwd Packet Length Max</c:v>
                </c:pt>
                <c:pt idx="6">
                  <c:v>Packet Length Variance</c:v>
                </c:pt>
                <c:pt idx="7">
                  <c:v>Fwd Packet Length Max</c:v>
                </c:pt>
                <c:pt idx="8">
                  <c:v>Bwd Init Win Bytes</c:v>
                </c:pt>
                <c:pt idx="9">
                  <c:v>Bwd Packet Length Mean</c:v>
                </c:pt>
              </c:strCache>
            </c:strRef>
          </c:cat>
          <c:val>
            <c:numRef>
              <c:f>Sheet1!$B$2:$B$11</c:f>
              <c:numCache>
                <c:formatCode>General</c:formatCode>
                <c:ptCount val="10"/>
                <c:pt idx="0">
                  <c:v>0.24017127</c:v>
                </c:pt>
                <c:pt idx="1">
                  <c:v>0.27870014</c:v>
                </c:pt>
                <c:pt idx="2">
                  <c:v>0.3265237</c:v>
                </c:pt>
                <c:pt idx="3">
                  <c:v>0.42941484</c:v>
                </c:pt>
                <c:pt idx="4">
                  <c:v>0.44335842</c:v>
                </c:pt>
                <c:pt idx="5">
                  <c:v>0.5471514</c:v>
                </c:pt>
                <c:pt idx="6">
                  <c:v>0.6258793</c:v>
                </c:pt>
                <c:pt idx="7">
                  <c:v>0.6574792</c:v>
                </c:pt>
                <c:pt idx="8">
                  <c:v>0.72088706</c:v>
                </c:pt>
                <c:pt idx="9">
                  <c:v>0.7407886</c:v>
                </c:pt>
              </c:numCache>
            </c:numRef>
          </c:val>
        </c:ser>
        <c:dLbls>
          <c:numFmt formatCode="0.00" sourceLinked="0"/>
          <c:txPr>
            <a:bodyPr/>
            <a:lstStyle/>
            <a:p>
              <a:pPr>
                <a:defRPr sz="1100">
                  <a:solidFill>
                    <a:srgbClr val="1F2937"/>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9D6EC"/>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b"/>
        <c:majorGridlines>
          <c:spPr>
            <a:ln>
              <a:solidFill>
                <a:srgbClr val="E5E7EB"/>
              </a:solidFill>
            </a:ln>
          </c:spPr>
        </c:majorGridlines>
        <c:majorTickMark val="out"/>
        <c:minorTickMark val="none"/>
        <c:tickLblPos val="nextTo"/>
        <c:spPr>
          <a:ln>
            <a:noFill/>
          </a:ln>
        </c:spPr>
        <c:txPr>
          <a:bodyPr/>
          <a:lstStyle/>
          <a:p>
            <a:pPr>
              <a:defRPr sz="1100">
                <a:solidFill>
                  <a:srgbClr val="5B6B82"/>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Share of the held-out family detected</a:t>
            </a:r>
          </a:p>
        </c:rich>
      </c:tx>
      <c:layout/>
      <c:overlay val="0"/>
    </c:title>
    <c:autoTitleDeleted val="0"/>
    <c:plotArea>
      <c:barChart>
        <c:barDir val="col"/>
        <c:grouping val="clustered"/>
        <c:ser>
          <c:idx val="0"/>
          <c:order val="0"/>
          <c:tx>
            <c:strRef>
              <c:f>Sheet1!$B$1</c:f>
              <c:strCache>
                <c:ptCount val="1"/>
                <c:pt idx="0">
                  <c:v>Default threshold (0.5)</c:v>
                </c:pt>
              </c:strCache>
            </c:strRef>
          </c:tx>
          <c:spPr>
            <a:solidFill>
              <a:srgbClr val="1B2A4A"/>
            </a:solidFill>
            <a:ln>
              <a:noFill/>
            </a:ln>
          </c:spPr>
          <c:cat>
            <c:strRef>
              <c:f>Sheet1!$A$2:$A$9</c:f>
              <c:strCache>
                <c:ptCount val="8"/>
                <c:pt idx="0">
                  <c:v>DDoS</c:v>
                </c:pt>
                <c:pt idx="1">
                  <c:v>DoS</c:v>
                </c:pt>
                <c:pt idx="2">
                  <c:v>Heartbleed</c:v>
                </c:pt>
                <c:pt idx="3">
                  <c:v>Infiltration</c:v>
                </c:pt>
                <c:pt idx="4">
                  <c:v>Botnet</c:v>
                </c:pt>
                <c:pt idx="5">
                  <c:v>WebAttack</c:v>
                </c:pt>
                <c:pt idx="6">
                  <c:v>PortScan</c:v>
                </c:pt>
                <c:pt idx="7">
                  <c:v>BruteForce</c:v>
                </c:pt>
              </c:strCache>
            </c:strRef>
          </c:cat>
          <c:val>
            <c:numRef>
              <c:f>Sheet1!$B$2:$B$9</c:f>
              <c:numCache>
                <c:formatCode>General</c:formatCode>
                <c:ptCount val="8"/>
                <c:pt idx="0">
                  <c:v>0.988459598082906</c:v>
                </c:pt>
                <c:pt idx="1">
                  <c:v>0.0024587203001736</c:v>
                </c:pt>
                <c:pt idx="2">
                  <c:v>0.0</c:v>
                </c:pt>
                <c:pt idx="3">
                  <c:v>0.1111111111111111</c:v>
                </c:pt>
                <c:pt idx="4">
                  <c:v>0.0</c:v>
                </c:pt>
                <c:pt idx="5">
                  <c:v>0.0096153846153846</c:v>
                </c:pt>
                <c:pt idx="6">
                  <c:v>0.0171539961013645</c:v>
                </c:pt>
                <c:pt idx="7">
                  <c:v>0.0</c:v>
                </c:pt>
              </c:numCache>
            </c:numRef>
          </c:val>
        </c:ser>
        <c:ser>
          <c:idx val="1"/>
          <c:order val="1"/>
          <c:tx>
            <c:strRef>
              <c:f>Sheet1!$C$1</c:f>
              <c:strCache>
                <c:ptCount val="1"/>
                <c:pt idx="0">
                  <c:v>Threshold set for 1% FPR</c:v>
                </c:pt>
              </c:strCache>
            </c:strRef>
          </c:tx>
          <c:spPr>
            <a:solidFill>
              <a:srgbClr val="F2A93B"/>
            </a:solidFill>
            <a:ln>
              <a:noFill/>
            </a:ln>
          </c:spPr>
          <c:cat>
            <c:strRef>
              <c:f>Sheet1!$A$2:$A$9</c:f>
              <c:strCache>
                <c:ptCount val="8"/>
                <c:pt idx="0">
                  <c:v>DDoS</c:v>
                </c:pt>
                <c:pt idx="1">
                  <c:v>DoS</c:v>
                </c:pt>
                <c:pt idx="2">
                  <c:v>Heartbleed</c:v>
                </c:pt>
                <c:pt idx="3">
                  <c:v>Infiltration</c:v>
                </c:pt>
                <c:pt idx="4">
                  <c:v>Botnet</c:v>
                </c:pt>
                <c:pt idx="5">
                  <c:v>WebAttack</c:v>
                </c:pt>
                <c:pt idx="6">
                  <c:v>PortScan</c:v>
                </c:pt>
                <c:pt idx="7">
                  <c:v>BruteForce</c:v>
                </c:pt>
              </c:strCache>
            </c:strRef>
          </c:cat>
          <c:val>
            <c:numRef>
              <c:f>Sheet1!$C$2:$C$9</c:f>
              <c:numCache>
                <c:formatCode>General</c:formatCode>
                <c:ptCount val="8"/>
                <c:pt idx="0">
                  <c:v>1.0</c:v>
                </c:pt>
                <c:pt idx="1">
                  <c:v>0.9918198026032138</c:v>
                </c:pt>
                <c:pt idx="2">
                  <c:v>0.9090909090909092</c:v>
                </c:pt>
                <c:pt idx="3">
                  <c:v>0.8333333333333334</c:v>
                </c:pt>
                <c:pt idx="4">
                  <c:v>0.8260869565217391</c:v>
                </c:pt>
                <c:pt idx="5">
                  <c:v>0.1442307692307692</c:v>
                </c:pt>
                <c:pt idx="6">
                  <c:v>0.1478882391163093</c:v>
                </c:pt>
                <c:pt idx="7">
                  <c:v>0.1293812202509736</c:v>
                </c:pt>
              </c:numCache>
            </c:numRef>
          </c:val>
        </c:ser>
        <c:dLbls>
          <c:numFmt formatCode="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C9D6EC"/>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max val="1.1"/>
          <c:min val="0.0"/>
        </c:scaling>
        <c:delete val="0"/>
        <c:axPos val="l"/>
        <c:majorGridlines>
          <c:spPr>
            <a:ln>
              <a:solidFill>
                <a:srgbClr val="E5E7EB"/>
              </a:solidFill>
            </a:ln>
          </c:spPr>
        </c:majorGridlines>
        <c:numFmt formatCode="0%" sourceLinked="0"/>
        <c:majorTickMark val="out"/>
        <c:minorTickMark val="none"/>
        <c:tickLblPos val="nextTo"/>
        <c:spPr>
          <a:ln>
            <a:noFill/>
          </a:ln>
        </c:spPr>
        <c:txPr>
          <a:bodyPr/>
          <a:lstStyle/>
          <a:p>
            <a:pPr>
              <a:defRPr sz="1100">
                <a:solidFill>
                  <a:srgbClr val="5B6B82"/>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937"/>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A4A"/>
                </a:solidFill>
                <a:latin typeface="Calibri"/>
              </a:rPr>
              <a:t>Binary F1 (no imbalance strategy)</a:t>
            </a:r>
          </a:p>
        </c:rich>
      </c:tx>
      <c:layout/>
      <c:overlay val="0"/>
    </c:title>
    <c:autoTitleDeleted val="0"/>
    <c:plotArea>
      <c:barChart>
        <c:barDir val="col"/>
        <c:grouping val="clustered"/>
        <c:ser>
          <c:idx val="0"/>
          <c:order val="0"/>
          <c:tx>
            <c:strRef>
              <c:f>Sheet1!$B$1</c:f>
              <c:strCache>
                <c:ptCount val="1"/>
                <c:pt idx="0">
                  <c:v>CICIDS2017 test (in-distribution)</c:v>
                </c:pt>
              </c:strCache>
            </c:strRef>
          </c:tx>
          <c:spPr>
            <a:solidFill>
              <a:srgbClr val="1B2A4A"/>
            </a:solidFill>
            <a:ln>
              <a:noFill/>
            </a:ln>
          </c:spPr>
          <c:cat>
            <c:strRef>
              <c:f>Sheet1!$A$2:$A$6</c:f>
              <c:strCache>
                <c:ptCount val="5"/>
                <c:pt idx="0">
                  <c:v>Logistic Reg.</c:v>
                </c:pt>
                <c:pt idx="1">
                  <c:v>RBF-SVM</c:v>
                </c:pt>
                <c:pt idx="2">
                  <c:v>MLP</c:v>
                </c:pt>
                <c:pt idx="3">
                  <c:v>Random Forest</c:v>
                </c:pt>
                <c:pt idx="4">
                  <c:v>XGBoost</c:v>
                </c:pt>
              </c:strCache>
            </c:strRef>
          </c:cat>
          <c:val>
            <c:numRef>
              <c:f>Sheet1!$B$2:$B$6</c:f>
              <c:numCache>
                <c:formatCode>General</c:formatCode>
                <c:ptCount val="5"/>
                <c:pt idx="0">
                  <c:v>0.9969779416326204</c:v>
                </c:pt>
                <c:pt idx="1">
                  <c:v>0.9994331065759636</c:v>
                </c:pt>
                <c:pt idx="2">
                  <c:v>0.9994330262225372</c:v>
                </c:pt>
                <c:pt idx="3">
                  <c:v>0.9998228363894056</c:v>
                </c:pt>
                <c:pt idx="4">
                  <c:v>0.9998937112488928</c:v>
                </c:pt>
              </c:numCache>
            </c:numRef>
          </c:val>
        </c:ser>
        <c:ser>
          <c:idx val="1"/>
          <c:order val="1"/>
          <c:tx>
            <c:strRef>
              <c:f>Sheet1!$C$1</c:f>
              <c:strCache>
                <c:ptCount val="1"/>
                <c:pt idx="0">
                  <c:v>CSE-CIC-IDS2018 (new network)</c:v>
                </c:pt>
              </c:strCache>
            </c:strRef>
          </c:tx>
          <c:spPr>
            <a:solidFill>
              <a:srgbClr val="C0392B"/>
            </a:solidFill>
            <a:ln>
              <a:noFill/>
            </a:ln>
          </c:spPr>
          <c:cat>
            <c:strRef>
              <c:f>Sheet1!$A$2:$A$6</c:f>
              <c:strCache>
                <c:ptCount val="5"/>
                <c:pt idx="0">
                  <c:v>Logistic Reg.</c:v>
                </c:pt>
                <c:pt idx="1">
                  <c:v>RBF-SVM</c:v>
                </c:pt>
                <c:pt idx="2">
                  <c:v>MLP</c:v>
                </c:pt>
                <c:pt idx="3">
                  <c:v>Random Forest</c:v>
                </c:pt>
                <c:pt idx="4">
                  <c:v>XGBoost</c:v>
                </c:pt>
              </c:strCache>
            </c:strRef>
          </c:cat>
          <c:val>
            <c:numRef>
              <c:f>Sheet1!$C$2:$C$6</c:f>
              <c:numCache>
                <c:formatCode>General</c:formatCode>
                <c:ptCount val="5"/>
                <c:pt idx="0">
                  <c:v>0.4180448102025551</c:v>
                </c:pt>
                <c:pt idx="1">
                  <c:v>0.0587492868550594</c:v>
                </c:pt>
                <c:pt idx="2">
                  <c:v>0.0183905029591928</c:v>
                </c:pt>
                <c:pt idx="3">
                  <c:v>0.0061867033885055</c:v>
                </c:pt>
                <c:pt idx="4">
                  <c:v>0.0050022201539412</c:v>
                </c:pt>
              </c:numCache>
            </c:numRef>
          </c:val>
        </c:ser>
        <c:dLbls>
          <c:numFmt formatCode="0.00" sourceLinked="0"/>
          <c:txPr>
            <a:bodyPr/>
            <a:lstStyle/>
            <a:p>
              <a:pPr>
                <a:defRPr sz="1100">
                  <a:solidFill>
                    <a:srgbClr val="1F2937"/>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C9D6EC"/>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1.1"/>
          <c:min val="0.0"/>
        </c:scaling>
        <c:delete val="0"/>
        <c:axPos val="l"/>
        <c:majorGridlines>
          <c:spPr>
            <a:ln>
              <a:solidFill>
                <a:srgbClr val="E5E7EB"/>
              </a:solidFill>
            </a:ln>
          </c:spPr>
        </c:majorGridlines>
        <c:numFmt formatCode="0.0" sourceLinked="0"/>
        <c:majorTickMark val="out"/>
        <c:minorTickMark val="none"/>
        <c:tickLblPos val="nextTo"/>
        <c:spPr>
          <a:ln>
            <a:noFill/>
          </a:ln>
        </c:spPr>
        <c:txPr>
          <a:bodyPr/>
          <a:lstStyle/>
          <a:p>
            <a:pPr>
              <a:defRPr sz="1100">
                <a:solidFill>
                  <a:srgbClr val="5B6B82"/>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Assessment upload: project details in three parts — abstract, methodology and simulation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contrast: near-perfect in-distribution scores versus collapse on an independent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goal is a fair comparison: identical inputs for every model, and no step that peeks at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Removing duplicates before splitting matters: otherwise copies sit in both train and test and inflate scores. 'Attempted' flows (attack sessions without attack payload) are treated as benign, as the dataset authors recommend.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Hyper-parameters: RandomizedSearchCV, 12 draws, 3-fold, on a 150k-row stratified sample; tuned once per model and reused for all three strategies so the strategy comparison is not confounded by tuning.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Cross-dataset target: 5 days of corrected CSE-CIC-IDS2018 streamed from the 9.7 GB archive; all attack flows plus 5% of benign flows; 4,329,350 flows after cleaning. Same fixed CICFlowMeter, so features match exactly.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non-linear models exceed 0.99 macro-F1 on the random split. The corrected t-test is conservative; with 5 folds only large gaps are significant (e.g. Random Forest vs Logistic Regression, p ≈ 0.005).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attacks are the clearest example: the classifier recognises the variant it trained on and fails on the one it barely saw. Class weights push the decision boundary towards rare classes, which floods benign traffic with alerts.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SVM training time is low only because it was capped at 60k rows. ONNX export brings the tree models down to roughly 0.01–0.02 ms per flow, which makes inline use feasible even on small devices.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also produces per-flow explanations (waterfall plots in results/.../shap/) that show an analyst why a specific flow was flagged.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Heartbleed (11 flows) and Infiltration (36 flows) results are indicative only. Random-split models; the time-block split gives the same pattern.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4,329,350 flows after cleaning (DoS, DDoS, Botnet, brute force; benign sampled at 5%, so target precision is optimistic while recall and FPR are unaffected). Same fixed CICFlowMeter, identical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domain adaptation or multi-dataset training, feature sets that exclude host-specific fields, and per-site threshold calibration.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Oval 1"/>
          <p:cNvSpPr/>
          <p:nvPr/>
        </p:nvSpPr>
        <p:spPr>
          <a:xfrm>
            <a:off x="10241280" y="914400"/>
            <a:ext cx="109728" cy="109728"/>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64240" y="1463040"/>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2103120"/>
            <a:ext cx="91440" cy="91440"/>
          </a:xfrm>
          <a:prstGeom prst="ellipse">
            <a:avLst/>
          </a:prstGeom>
          <a:solidFill>
            <a:srgbClr val="8FA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92640" y="5120640"/>
            <a:ext cx="91440" cy="91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0" y="5577840"/>
            <a:ext cx="128016" cy="128016"/>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47120" y="4754880"/>
            <a:ext cx="73152" cy="73152"/>
          </a:xfrm>
          <a:prstGeom prst="ellipse">
            <a:avLst/>
          </a:prstGeom>
          <a:solidFill>
            <a:srgbClr val="8FA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0296144" y="969264"/>
            <a:ext cx="804672" cy="530352"/>
          </a:xfrm>
          <a:prstGeom prst="line">
            <a:avLst/>
          </a:prstGeom>
          <a:ln w="12700">
            <a:solidFill>
              <a:srgbClr val="3B4C7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744200" y="1499616"/>
            <a:ext cx="356616" cy="649224"/>
          </a:xfrm>
          <a:prstGeom prst="line">
            <a:avLst/>
          </a:prstGeom>
          <a:ln w="12700">
            <a:solidFill>
              <a:srgbClr val="3B4C7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738360" y="5166360"/>
            <a:ext cx="841248" cy="475488"/>
          </a:xfrm>
          <a:prstGeom prst="line">
            <a:avLst/>
          </a:prstGeom>
          <a:ln w="12700">
            <a:solidFill>
              <a:srgbClr val="3B4C7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579608" y="4791456"/>
            <a:ext cx="704088" cy="850392"/>
          </a:xfrm>
          <a:prstGeom prst="line">
            <a:avLst/>
          </a:prstGeom>
          <a:ln w="12700">
            <a:solidFill>
              <a:srgbClr val="3B4C7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1828800"/>
            <a:ext cx="9144000" cy="320040"/>
          </a:xfrm>
          <a:prstGeom prst="rect">
            <a:avLst/>
          </a:prstGeom>
          <a:noFill/>
        </p:spPr>
        <p:txBody>
          <a:bodyPr wrap="square" lIns="0" rIns="0" tIns="0" bIns="0" anchor="t">
            <a:spAutoFit/>
          </a:bodyPr>
          <a:lstStyle/>
          <a:p>
            <a:pPr algn="l">
              <a:spcAft>
                <a:spcPts val="0"/>
              </a:spcAft>
            </a:pPr>
            <a:r>
              <a:rPr sz="1300" b="1" i="0">
                <a:solidFill>
                  <a:srgbClr val="F2A93B"/>
                </a:solidFill>
                <a:latin typeface="Calibri"/>
              </a:rPr>
              <a:t>AI / ML  •  NETWORK SECURITY PROJECT  •  ASSESSMENT</a:t>
            </a:r>
          </a:p>
        </p:txBody>
      </p:sp>
      <p:sp>
        <p:nvSpPr>
          <p:cNvPr id="13" name="TextBox 12"/>
          <p:cNvSpPr txBox="1"/>
          <p:nvPr/>
        </p:nvSpPr>
        <p:spPr>
          <a:xfrm>
            <a:off x="731520" y="2240280"/>
            <a:ext cx="10607040" cy="91440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rPr>
              <a:t>ML-Based Network Intrusion Detection</a:t>
            </a:r>
          </a:p>
        </p:txBody>
      </p:sp>
      <p:sp>
        <p:nvSpPr>
          <p:cNvPr id="14" name="TextBox 13"/>
          <p:cNvSpPr txBox="1"/>
          <p:nvPr/>
        </p:nvSpPr>
        <p:spPr>
          <a:xfrm>
            <a:off x="731520" y="3246120"/>
            <a:ext cx="9601200" cy="822960"/>
          </a:xfrm>
          <a:prstGeom prst="rect">
            <a:avLst/>
          </a:prstGeom>
          <a:noFill/>
        </p:spPr>
        <p:txBody>
          <a:bodyPr wrap="square" lIns="0" rIns="0" tIns="0" bIns="0" anchor="t">
            <a:spAutoFit/>
          </a:bodyPr>
          <a:lstStyle/>
          <a:p>
            <a:pPr algn="l">
              <a:spcAft>
                <a:spcPts val="0"/>
              </a:spcAft>
            </a:pPr>
            <a:r>
              <a:rPr sz="1800" b="0" i="1">
                <a:solidFill>
                  <a:srgbClr val="C9D6EC"/>
                </a:solidFill>
                <a:latin typeface="Calibri"/>
              </a:rPr>
              <a:t>Abstract  ·  Methodology  ·  Simulation Results
A controlled benchmark of five classifiers on the corrected CICIDS2017 dataset</a:t>
            </a:r>
          </a:p>
        </p:txBody>
      </p:sp>
      <p:cxnSp>
        <p:nvCxnSpPr>
          <p:cNvPr id="15" name="Connector 14"/>
          <p:cNvCxnSpPr/>
          <p:nvPr/>
        </p:nvCxnSpPr>
        <p:spPr>
          <a:xfrm>
            <a:off x="731520" y="5074920"/>
            <a:ext cx="3657600" cy="0"/>
          </a:xfrm>
          <a:prstGeom prst="line">
            <a:avLst/>
          </a:prstGeom>
          <a:ln w="12700">
            <a:solidFill>
              <a:srgbClr val="3B4C7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5257800"/>
            <a:ext cx="9144000" cy="320040"/>
          </a:xfrm>
          <a:prstGeom prst="rect">
            <a:avLst/>
          </a:prstGeom>
          <a:noFill/>
        </p:spPr>
        <p:txBody>
          <a:bodyPr wrap="square" lIns="0" rIns="0" tIns="0" bIns="0" anchor="t">
            <a:spAutoFit/>
          </a:bodyPr>
          <a:lstStyle/>
          <a:p>
            <a:pPr algn="l">
              <a:spcAft>
                <a:spcPts val="0"/>
              </a:spcAft>
            </a:pPr>
            <a:r>
              <a:rPr sz="1400" b="0" i="0">
                <a:solidFill>
                  <a:srgbClr val="8FA0C0"/>
                </a:solidFill>
                <a:latin typeface="Calibri"/>
              </a:rPr>
              <a:t>Ahmad Azim &amp; Pawan Kumar   •   Computer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ABSTRACT</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Abstract</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What we built, what we measured, and what we found</a:t>
            </a:r>
          </a:p>
        </p:txBody>
      </p:sp>
      <p:sp>
        <p:nvSpPr>
          <p:cNvPr id="5" name="TextBox 4"/>
          <p:cNvSpPr txBox="1"/>
          <p:nvPr/>
        </p:nvSpPr>
        <p:spPr>
          <a:xfrm>
            <a:off x="548640" y="1828800"/>
            <a:ext cx="6675120" cy="4206240"/>
          </a:xfrm>
          <a:prstGeom prst="rect">
            <a:avLst/>
          </a:prstGeom>
          <a:noFill/>
        </p:spPr>
        <p:txBody>
          <a:bodyPr wrap="square" lIns="0" rIns="0" tIns="0" bIns="0" anchor="t">
            <a:spAutoFit/>
          </a:bodyPr>
          <a:lstStyle/>
          <a:p>
            <a:pPr algn="l">
              <a:spcAft>
                <a:spcPts val="1200"/>
              </a:spcAft>
            </a:pPr>
            <a:r>
              <a:rPr sz="1600" b="0" i="0">
                <a:solidFill>
                  <a:srgbClr val="1F2937"/>
                </a:solidFill>
                <a:latin typeface="Calibri"/>
              </a:rPr>
              <a:t>Signature-based intrusion detection only catches attacks it already has a rule for. This project benchmarks five machine-learning classifiers — Logistic Regression, Random Forest, XGBoost, RBF-SVM and an MLP — for flow-based intrusion detection on the corrected CICIDS2017 dataset, all trained and tested under one leakage-safe pipeline with three class-imbalance strategies.</a:t>
            </a:r>
          </a:p>
          <a:p>
            <a:pPr algn="l">
              <a:spcAft>
                <a:spcPts val="1200"/>
              </a:spcAft>
            </a:pPr>
            <a:r>
              <a:rPr sz="1600" b="0" i="0">
                <a:solidFill>
                  <a:srgbClr val="1F2937"/>
                </a:solidFill>
                <a:latin typeface="Calibri"/>
              </a:rPr>
              <a:t>Beyond accuracy we measure statistical significance, per-flow latency, SHAP explanations, and generalisation: to a time-separated split, to attack families held out of training, and to an independent dataset (CSE-CIC-IDS2018).</a:t>
            </a:r>
          </a:p>
          <a:p>
            <a:pPr algn="l">
              <a:spcAft>
                <a:spcPts val="1200"/>
              </a:spcAft>
            </a:pPr>
            <a:r>
              <a:rPr sz="1600" b="1" i="0">
                <a:solidFill>
                  <a:srgbClr val="1B2A4A"/>
                </a:solidFill>
                <a:latin typeface="Calibri"/>
              </a:rPr>
              <a:t>Result: </a:t>
            </a:r>
            <a:r>
              <a:rPr sz="1600" b="0" i="0">
                <a:solidFill>
                  <a:srgbClr val="1F2937"/>
                </a:solidFill>
                <a:latin typeface="Calibri"/>
              </a:rPr>
              <a:t>tree ensembles reach 0.999 macro-F1 but are statistically tied; every model misses attack variants it has not seen, and Random Forest / XGBoost detect only 0.3% of 2018 attacks. Near-perfect benchmark scores do not transfer to a new network.</a:t>
            </a:r>
          </a:p>
        </p:txBody>
      </p:sp>
      <p:sp>
        <p:nvSpPr>
          <p:cNvPr id="6" name="Rounded Rectangle 5"/>
          <p:cNvSpPr/>
          <p:nvPr/>
        </p:nvSpPr>
        <p:spPr>
          <a:xfrm>
            <a:off x="7680960" y="1828800"/>
            <a:ext cx="3959352" cy="420624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103120"/>
            <a:ext cx="1737360" cy="68580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1.71M</a:t>
            </a:r>
          </a:p>
        </p:txBody>
      </p:sp>
      <p:sp>
        <p:nvSpPr>
          <p:cNvPr id="8" name="TextBox 7"/>
          <p:cNvSpPr txBox="1"/>
          <p:nvPr/>
        </p:nvSpPr>
        <p:spPr>
          <a:xfrm>
            <a:off x="7955279" y="2834639"/>
            <a:ext cx="1737360" cy="822960"/>
          </a:xfrm>
          <a:prstGeom prst="rect">
            <a:avLst/>
          </a:prstGeom>
          <a:noFill/>
        </p:spPr>
        <p:txBody>
          <a:bodyPr wrap="square" lIns="0" rIns="0" tIns="0" bIns="0" anchor="t">
            <a:spAutoFit/>
          </a:bodyPr>
          <a:lstStyle/>
          <a:p>
            <a:pPr algn="l">
              <a:spcAft>
                <a:spcPts val="0"/>
              </a:spcAft>
            </a:pPr>
            <a:r>
              <a:rPr sz="1200" b="0" i="0">
                <a:solidFill>
                  <a:srgbClr val="5B6B82"/>
                </a:solidFill>
                <a:latin typeface="Calibri"/>
              </a:rPr>
              <a:t>labelled flows after
cleaning (from 2.10M)</a:t>
            </a:r>
          </a:p>
        </p:txBody>
      </p:sp>
      <p:sp>
        <p:nvSpPr>
          <p:cNvPr id="9" name="TextBox 8"/>
          <p:cNvSpPr txBox="1"/>
          <p:nvPr/>
        </p:nvSpPr>
        <p:spPr>
          <a:xfrm>
            <a:off x="9829800" y="2103120"/>
            <a:ext cx="1737360" cy="68580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5 × 3</a:t>
            </a:r>
          </a:p>
        </p:txBody>
      </p:sp>
      <p:sp>
        <p:nvSpPr>
          <p:cNvPr id="10" name="TextBox 9"/>
          <p:cNvSpPr txBox="1"/>
          <p:nvPr/>
        </p:nvSpPr>
        <p:spPr>
          <a:xfrm>
            <a:off x="9829800" y="2834639"/>
            <a:ext cx="1737360" cy="822960"/>
          </a:xfrm>
          <a:prstGeom prst="rect">
            <a:avLst/>
          </a:prstGeom>
          <a:noFill/>
        </p:spPr>
        <p:txBody>
          <a:bodyPr wrap="square" lIns="0" rIns="0" tIns="0" bIns="0" anchor="t">
            <a:spAutoFit/>
          </a:bodyPr>
          <a:lstStyle/>
          <a:p>
            <a:pPr algn="l">
              <a:spcAft>
                <a:spcPts val="0"/>
              </a:spcAft>
            </a:pPr>
            <a:r>
              <a:rPr sz="1200" b="0" i="0">
                <a:solidFill>
                  <a:srgbClr val="5B6B82"/>
                </a:solidFill>
                <a:latin typeface="Calibri"/>
              </a:rPr>
              <a:t>classifiers × class-
imbalance strategies</a:t>
            </a:r>
          </a:p>
        </p:txBody>
      </p:sp>
      <p:sp>
        <p:nvSpPr>
          <p:cNvPr id="11" name="TextBox 10"/>
          <p:cNvSpPr txBox="1"/>
          <p:nvPr/>
        </p:nvSpPr>
        <p:spPr>
          <a:xfrm>
            <a:off x="7955279" y="4069079"/>
            <a:ext cx="1737360" cy="68580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0.999</a:t>
            </a:r>
          </a:p>
        </p:txBody>
      </p:sp>
      <p:sp>
        <p:nvSpPr>
          <p:cNvPr id="12" name="TextBox 11"/>
          <p:cNvSpPr txBox="1"/>
          <p:nvPr/>
        </p:nvSpPr>
        <p:spPr>
          <a:xfrm>
            <a:off x="7955279" y="4800599"/>
            <a:ext cx="1737360" cy="822960"/>
          </a:xfrm>
          <a:prstGeom prst="rect">
            <a:avLst/>
          </a:prstGeom>
          <a:noFill/>
        </p:spPr>
        <p:txBody>
          <a:bodyPr wrap="square" lIns="0" rIns="0" tIns="0" bIns="0" anchor="t">
            <a:spAutoFit/>
          </a:bodyPr>
          <a:lstStyle/>
          <a:p>
            <a:pPr algn="l">
              <a:spcAft>
                <a:spcPts val="0"/>
              </a:spcAft>
            </a:pPr>
            <a:r>
              <a:rPr sz="1200" b="0" i="0">
                <a:solidFill>
                  <a:srgbClr val="5B6B82"/>
                </a:solidFill>
                <a:latin typeface="Calibri"/>
              </a:rPr>
              <a:t>best macro-F1
(random split)</a:t>
            </a:r>
          </a:p>
        </p:txBody>
      </p:sp>
      <p:sp>
        <p:nvSpPr>
          <p:cNvPr id="13" name="TextBox 12"/>
          <p:cNvSpPr txBox="1"/>
          <p:nvPr/>
        </p:nvSpPr>
        <p:spPr>
          <a:xfrm>
            <a:off x="9829800" y="4069079"/>
            <a:ext cx="1737360" cy="685800"/>
          </a:xfrm>
          <a:prstGeom prst="rect">
            <a:avLst/>
          </a:prstGeom>
          <a:noFill/>
        </p:spPr>
        <p:txBody>
          <a:bodyPr wrap="square" lIns="0" rIns="0" tIns="0" bIns="0" anchor="t">
            <a:spAutoFit/>
          </a:bodyPr>
          <a:lstStyle/>
          <a:p>
            <a:pPr algn="l">
              <a:spcAft>
                <a:spcPts val="0"/>
              </a:spcAft>
            </a:pPr>
            <a:r>
              <a:rPr sz="3400" b="1" i="0">
                <a:solidFill>
                  <a:srgbClr val="C0392B"/>
                </a:solidFill>
                <a:latin typeface="Cambria"/>
              </a:rPr>
              <a:t>0.3%</a:t>
            </a:r>
          </a:p>
        </p:txBody>
      </p:sp>
      <p:sp>
        <p:nvSpPr>
          <p:cNvPr id="14" name="TextBox 13"/>
          <p:cNvSpPr txBox="1"/>
          <p:nvPr/>
        </p:nvSpPr>
        <p:spPr>
          <a:xfrm>
            <a:off x="9829800" y="4800599"/>
            <a:ext cx="1737360" cy="822960"/>
          </a:xfrm>
          <a:prstGeom prst="rect">
            <a:avLst/>
          </a:prstGeom>
          <a:noFill/>
        </p:spPr>
        <p:txBody>
          <a:bodyPr wrap="square" lIns="0" rIns="0" tIns="0" bIns="0" anchor="t">
            <a:spAutoFit/>
          </a:bodyPr>
          <a:lstStyle/>
          <a:p>
            <a:pPr algn="l">
              <a:spcAft>
                <a:spcPts val="0"/>
              </a:spcAft>
            </a:pPr>
            <a:r>
              <a:rPr sz="1200" b="0" i="0">
                <a:solidFill>
                  <a:srgbClr val="5B6B82"/>
                </a:solidFill>
                <a:latin typeface="Calibri"/>
              </a:rPr>
              <a:t>2018 attacks caught by
RF / XGBoost</a:t>
            </a:r>
          </a:p>
        </p:txBody>
      </p:sp>
      <p:cxnSp>
        <p:nvCxnSpPr>
          <p:cNvPr id="15" name="Connector 14"/>
          <p:cNvCxnSpPr/>
          <p:nvPr/>
        </p:nvCxnSpPr>
        <p:spPr>
          <a:xfrm>
            <a:off x="9665208" y="2148840"/>
            <a:ext cx="0" cy="3566160"/>
          </a:xfrm>
          <a:prstGeom prst="line">
            <a:avLst/>
          </a:prstGeom>
          <a:ln w="12700">
            <a:solidFill>
              <a:srgbClr val="C9D6E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55279" y="3931920"/>
            <a:ext cx="3429001" cy="0"/>
          </a:xfrm>
          <a:prstGeom prst="line">
            <a:avLst/>
          </a:prstGeom>
          <a:ln w="12700">
            <a:solidFill>
              <a:srgbClr val="C9D6E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Abstract</a:t>
            </a:r>
          </a:p>
        </p:txBody>
      </p:sp>
      <p:sp>
        <p:nvSpPr>
          <p:cNvPr id="18" name="TextBox 17"/>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METHODOLOGY</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End-to-End Pipeline</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Six stages; every model sees exactly the same data, split, features and metrics</a:t>
            </a:r>
          </a:p>
        </p:txBody>
      </p:sp>
      <p:cxnSp>
        <p:nvCxnSpPr>
          <p:cNvPr id="5" name="Connector 4"/>
          <p:cNvCxnSpPr/>
          <p:nvPr/>
        </p:nvCxnSpPr>
        <p:spPr>
          <a:xfrm>
            <a:off x="960120" y="2331720"/>
            <a:ext cx="9418320" cy="0"/>
          </a:xfrm>
          <a:prstGeom prst="line">
            <a:avLst/>
          </a:prstGeom>
          <a:ln w="25400">
            <a:solidFill>
              <a:srgbClr val="C9D6EC"/>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94360" y="1965960"/>
            <a:ext cx="731520" cy="7315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7" name="TextBox 6"/>
          <p:cNvSpPr txBox="1"/>
          <p:nvPr/>
        </p:nvSpPr>
        <p:spPr>
          <a:xfrm>
            <a:off x="457200"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Data</a:t>
            </a:r>
          </a:p>
        </p:txBody>
      </p:sp>
      <p:sp>
        <p:nvSpPr>
          <p:cNvPr id="8" name="TextBox 7"/>
          <p:cNvSpPr txBox="1"/>
          <p:nvPr/>
        </p:nvSpPr>
        <p:spPr>
          <a:xfrm>
            <a:off x="457200"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Corrected CICIDS2017: re-extracted with a fixed CICFlowMeter and relabelled; 5 days, 2.1M flows</a:t>
            </a:r>
          </a:p>
        </p:txBody>
      </p:sp>
      <p:sp>
        <p:nvSpPr>
          <p:cNvPr id="9" name="Oval 8"/>
          <p:cNvSpPr/>
          <p:nvPr/>
        </p:nvSpPr>
        <p:spPr>
          <a:xfrm>
            <a:off x="2478024" y="1965960"/>
            <a:ext cx="731520" cy="7315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B2A4A"/>
                </a:solidFill>
                <a:latin typeface="Cambria"/>
              </a:rPr>
              <a:t>2</a:t>
            </a:r>
          </a:p>
        </p:txBody>
      </p:sp>
      <p:sp>
        <p:nvSpPr>
          <p:cNvPr id="10" name="TextBox 9"/>
          <p:cNvSpPr txBox="1"/>
          <p:nvPr/>
        </p:nvSpPr>
        <p:spPr>
          <a:xfrm>
            <a:off x="2340864"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Clean</a:t>
            </a:r>
          </a:p>
        </p:txBody>
      </p:sp>
      <p:sp>
        <p:nvSpPr>
          <p:cNvPr id="11" name="TextBox 10"/>
          <p:cNvSpPr txBox="1"/>
          <p:nvPr/>
        </p:nvSpPr>
        <p:spPr>
          <a:xfrm>
            <a:off x="2340864"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Drop IPs, ports, flow IDs; remove NaN/inf; de-duplicate before splitting; cap benign at 600k</a:t>
            </a:r>
          </a:p>
        </p:txBody>
      </p:sp>
      <p:sp>
        <p:nvSpPr>
          <p:cNvPr id="12" name="Oval 11"/>
          <p:cNvSpPr/>
          <p:nvPr/>
        </p:nvSpPr>
        <p:spPr>
          <a:xfrm>
            <a:off x="4361688" y="1965960"/>
            <a:ext cx="731520" cy="7315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13" name="TextBox 12"/>
          <p:cNvSpPr txBox="1"/>
          <p:nvPr/>
        </p:nvSpPr>
        <p:spPr>
          <a:xfrm>
            <a:off x="4224528"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Split</a:t>
            </a:r>
          </a:p>
        </p:txBody>
      </p:sp>
      <p:sp>
        <p:nvSpPr>
          <p:cNvPr id="14" name="TextBox 13"/>
          <p:cNvSpPr txBox="1"/>
          <p:nvPr/>
        </p:nvSpPr>
        <p:spPr>
          <a:xfrm>
            <a:off x="4224528"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80/20 stratified random split, plus a 5-minute time-block split as a leakage check</a:t>
            </a:r>
          </a:p>
        </p:txBody>
      </p:sp>
      <p:sp>
        <p:nvSpPr>
          <p:cNvPr id="15" name="Oval 14"/>
          <p:cNvSpPr/>
          <p:nvPr/>
        </p:nvSpPr>
        <p:spPr>
          <a:xfrm>
            <a:off x="6245351" y="1965960"/>
            <a:ext cx="731520" cy="7315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B2A4A"/>
                </a:solidFill>
                <a:latin typeface="Cambria"/>
              </a:rPr>
              <a:t>4</a:t>
            </a:r>
          </a:p>
        </p:txBody>
      </p:sp>
      <p:sp>
        <p:nvSpPr>
          <p:cNvPr id="16" name="TextBox 15"/>
          <p:cNvSpPr txBox="1"/>
          <p:nvPr/>
        </p:nvSpPr>
        <p:spPr>
          <a:xfrm>
            <a:off x="6108192"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Features</a:t>
            </a:r>
          </a:p>
        </p:txBody>
      </p:sp>
      <p:sp>
        <p:nvSpPr>
          <p:cNvPr id="17" name="TextBox 16"/>
          <p:cNvSpPr txBox="1"/>
          <p:nvPr/>
        </p:nvSpPr>
        <p:spPr>
          <a:xfrm>
            <a:off x="6108192"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82 → 60 after correlation pruning (|r| &gt; 0.95) → 30 via RFE with a Random Forest, train split only</a:t>
            </a:r>
          </a:p>
        </p:txBody>
      </p:sp>
      <p:sp>
        <p:nvSpPr>
          <p:cNvPr id="18" name="Oval 17"/>
          <p:cNvSpPr/>
          <p:nvPr/>
        </p:nvSpPr>
        <p:spPr>
          <a:xfrm>
            <a:off x="8129016" y="1965960"/>
            <a:ext cx="731520" cy="7315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5</a:t>
            </a:r>
          </a:p>
        </p:txBody>
      </p:sp>
      <p:sp>
        <p:nvSpPr>
          <p:cNvPr id="19" name="TextBox 18"/>
          <p:cNvSpPr txBox="1"/>
          <p:nvPr/>
        </p:nvSpPr>
        <p:spPr>
          <a:xfrm>
            <a:off x="7991856"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Train</a:t>
            </a:r>
          </a:p>
        </p:txBody>
      </p:sp>
      <p:sp>
        <p:nvSpPr>
          <p:cNvPr id="20" name="TextBox 19"/>
          <p:cNvSpPr txBox="1"/>
          <p:nvPr/>
        </p:nvSpPr>
        <p:spPr>
          <a:xfrm>
            <a:off x="7991856"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5 classifiers × {none, class weights, SMOTE}; RandomizedSearchCV with a fixed budget</a:t>
            </a:r>
          </a:p>
        </p:txBody>
      </p:sp>
      <p:sp>
        <p:nvSpPr>
          <p:cNvPr id="21" name="Oval 20"/>
          <p:cNvSpPr/>
          <p:nvPr/>
        </p:nvSpPr>
        <p:spPr>
          <a:xfrm>
            <a:off x="10012680" y="1965960"/>
            <a:ext cx="731520" cy="7315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B2A4A"/>
                </a:solidFill>
                <a:latin typeface="Cambria"/>
              </a:rPr>
              <a:t>6</a:t>
            </a:r>
          </a:p>
        </p:txBody>
      </p:sp>
      <p:sp>
        <p:nvSpPr>
          <p:cNvPr id="22" name="TextBox 21"/>
          <p:cNvSpPr txBox="1"/>
          <p:nvPr/>
        </p:nvSpPr>
        <p:spPr>
          <a:xfrm>
            <a:off x="9875520" y="2880360"/>
            <a:ext cx="178308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Evaluate</a:t>
            </a:r>
          </a:p>
        </p:txBody>
      </p:sp>
      <p:sp>
        <p:nvSpPr>
          <p:cNvPr id="23" name="TextBox 22"/>
          <p:cNvSpPr txBox="1"/>
          <p:nvPr/>
        </p:nvSpPr>
        <p:spPr>
          <a:xfrm>
            <a:off x="9875520" y="3291840"/>
            <a:ext cx="1737360" cy="210312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Per-class metrics, FPR, PR-AUC, significance tests, SHAP, latency, generalisation tests</a:t>
            </a:r>
          </a:p>
        </p:txBody>
      </p:sp>
      <p:sp>
        <p:nvSpPr>
          <p:cNvPr id="24" name="Rounded Rectangle 23"/>
          <p:cNvSpPr/>
          <p:nvPr/>
        </p:nvSpPr>
        <p:spPr>
          <a:xfrm>
            <a:off x="548640" y="5577840"/>
            <a:ext cx="11091672" cy="54864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77840"/>
            <a:ext cx="10698480" cy="548640"/>
          </a:xfrm>
          <a:prstGeom prst="rect">
            <a:avLst/>
          </a:prstGeom>
          <a:noFill/>
        </p:spPr>
        <p:txBody>
          <a:bodyPr wrap="square" lIns="0" rIns="0" tIns="0" bIns="0" anchor="ctr">
            <a:spAutoFit/>
          </a:bodyPr>
          <a:lstStyle/>
          <a:p>
            <a:pPr algn="l">
              <a:spcAft>
                <a:spcPts val="0"/>
              </a:spcAft>
            </a:pPr>
            <a:r>
              <a:rPr sz="1300" b="1" i="0">
                <a:solidFill>
                  <a:srgbClr val="1B2A4A"/>
                </a:solidFill>
                <a:latin typeface="Calibri"/>
              </a:rPr>
              <a:t>Tools:  </a:t>
            </a:r>
            <a:r>
              <a:rPr sz="1300" b="0" i="0">
                <a:solidFill>
                  <a:srgbClr val="1F2937"/>
                </a:solidFill>
                <a:latin typeface="Calibri"/>
              </a:rPr>
              <a:t>Python 3.12  •  pandas  •  scikit-learn  •  XGBoost  •  imbalanced-learn  •  SHAP  •  ONNX Runtime  •  one config file + `ids` CLI, fixed seed 42</a:t>
            </a:r>
          </a:p>
        </p:txBody>
      </p:sp>
      <p:sp>
        <p:nvSpPr>
          <p:cNvPr id="26" name="TextBox 25"/>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Methodology</a:t>
            </a:r>
          </a:p>
        </p:txBody>
      </p:sp>
      <p:sp>
        <p:nvSpPr>
          <p:cNvPr id="27" name="TextBox 26"/>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METHODOLOGY</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Dataset &amp; Preprocessing</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Corrected CICIDS2017: cleaning removes 18% of flows, almost all of them duplicates</a:t>
            </a:r>
          </a:p>
        </p:txBody>
      </p:sp>
      <p:graphicFrame>
        <p:nvGraphicFramePr>
          <p:cNvPr id="5" name="cleaning funnel"/>
          <p:cNvGraphicFramePr>
            <a:graphicFrameLocks noGrp="1"/>
          </p:cNvGraphicFramePr>
          <p:nvPr/>
        </p:nvGraphicFramePr>
        <p:xfrm>
          <a:off x="548640" y="1828800"/>
          <a:ext cx="5120640" cy="3108960"/>
        </p:xfrm>
        <a:graphic>
          <a:graphicData uri="http://schemas.openxmlformats.org/drawingml/2006/table">
            <a:tbl>
              <a:tblPr>
                <a:tableStyleId>{5C22544A-7EE6-4342-B048-85BDC9FD1C3A}</a:tableStyleId>
              </a:tblPr>
              <a:tblGrid>
                <a:gridCol w="3383280"/>
                <a:gridCol w="1737360"/>
              </a:tblGrid>
              <a:tr h="444137">
                <a:tc>
                  <a:txBody>
                    <a:bodyPr/>
                    <a:lstStyle/>
                    <a:p>
                      <a:pPr algn="l"/>
                      <a:r>
                        <a:rPr sz="1400" b="0">
                          <a:solidFill>
                            <a:srgbClr val="1F2937"/>
                          </a:solidFill>
                          <a:latin typeface="Calibri"/>
                        </a:rPr>
                        <a:t>Flows loaded (Mon–Fri)</a:t>
                      </a:r>
                    </a:p>
                  </a:txBody>
                  <a:tcPr marL="109728" marR="109728" anchor="ctr">
                    <a:solidFill>
                      <a:srgbClr val="FFFFFF"/>
                    </a:solidFill>
                  </a:tcPr>
                </a:tc>
                <a:tc>
                  <a:txBody>
                    <a:bodyPr/>
                    <a:lstStyle/>
                    <a:p>
                      <a:pPr algn="r"/>
                      <a:r>
                        <a:rPr sz="1400" b="0">
                          <a:solidFill>
                            <a:srgbClr val="1F2937"/>
                          </a:solidFill>
                          <a:latin typeface="Calibri"/>
                        </a:rPr>
                        <a:t>2,099,976</a:t>
                      </a:r>
                    </a:p>
                  </a:txBody>
                  <a:tcPr marL="109728" marR="109728" anchor="ctr">
                    <a:solidFill>
                      <a:srgbClr val="FFFFFF"/>
                    </a:solidFill>
                  </a:tcPr>
                </a:tc>
              </a:tr>
              <a:tr h="444137">
                <a:tc>
                  <a:txBody>
                    <a:bodyPr/>
                    <a:lstStyle/>
                    <a:p>
                      <a:pPr algn="l"/>
                      <a:r>
                        <a:rPr sz="1400" b="0">
                          <a:solidFill>
                            <a:srgbClr val="1F2937"/>
                          </a:solidFill>
                          <a:latin typeface="Calibri"/>
                        </a:rPr>
                        <a:t>NaN / infinite values</a:t>
                      </a:r>
                    </a:p>
                  </a:txBody>
                  <a:tcPr marL="109728" marR="109728" anchor="ctr">
                    <a:solidFill>
                      <a:srgbClr val="FFFFFF"/>
                    </a:solidFill>
                  </a:tcPr>
                </a:tc>
                <a:tc>
                  <a:txBody>
                    <a:bodyPr/>
                    <a:lstStyle/>
                    <a:p>
                      <a:pPr algn="r"/>
                      <a:r>
                        <a:rPr sz="1400" b="0">
                          <a:solidFill>
                            <a:srgbClr val="1F2937"/>
                          </a:solidFill>
                          <a:latin typeface="Calibri"/>
                        </a:rPr>
                        <a:t>−5</a:t>
                      </a:r>
                    </a:p>
                  </a:txBody>
                  <a:tcPr marL="109728" marR="109728" anchor="ctr">
                    <a:solidFill>
                      <a:srgbClr val="FFFFFF"/>
                    </a:solidFill>
                  </a:tcPr>
                </a:tc>
              </a:tr>
              <a:tr h="444137">
                <a:tc>
                  <a:txBody>
                    <a:bodyPr/>
                    <a:lstStyle/>
                    <a:p>
                      <a:pPr algn="l"/>
                      <a:r>
                        <a:rPr sz="1400" b="0">
                          <a:solidFill>
                            <a:srgbClr val="1F2937"/>
                          </a:solidFill>
                          <a:latin typeface="Calibri"/>
                        </a:rPr>
                        <a:t>Duplicates with conflicting labels</a:t>
                      </a:r>
                    </a:p>
                  </a:txBody>
                  <a:tcPr marL="109728" marR="109728" anchor="ctr">
                    <a:solidFill>
                      <a:srgbClr val="FFFFFF"/>
                    </a:solidFill>
                  </a:tcPr>
                </a:tc>
                <a:tc>
                  <a:txBody>
                    <a:bodyPr/>
                    <a:lstStyle/>
                    <a:p>
                      <a:pPr algn="r"/>
                      <a:r>
                        <a:rPr sz="1400" b="0">
                          <a:solidFill>
                            <a:srgbClr val="1F2937"/>
                          </a:solidFill>
                          <a:latin typeface="Calibri"/>
                        </a:rPr>
                        <a:t>−2,678</a:t>
                      </a:r>
                    </a:p>
                  </a:txBody>
                  <a:tcPr marL="109728" marR="109728" anchor="ctr">
                    <a:solidFill>
                      <a:srgbClr val="FFFFFF"/>
                    </a:solidFill>
                  </a:tcPr>
                </a:tc>
              </a:tr>
              <a:tr h="444137">
                <a:tc>
                  <a:txBody>
                    <a:bodyPr/>
                    <a:lstStyle/>
                    <a:p>
                      <a:pPr algn="l"/>
                      <a:r>
                        <a:rPr sz="1400" b="0">
                          <a:solidFill>
                            <a:srgbClr val="1F2937"/>
                          </a:solidFill>
                          <a:latin typeface="Calibri"/>
                        </a:rPr>
                        <a:t>Exact duplicates</a:t>
                      </a:r>
                    </a:p>
                  </a:txBody>
                  <a:tcPr marL="109728" marR="109728" anchor="ctr">
                    <a:solidFill>
                      <a:srgbClr val="FFFFFF"/>
                    </a:solidFill>
                  </a:tcPr>
                </a:tc>
                <a:tc>
                  <a:txBody>
                    <a:bodyPr/>
                    <a:lstStyle/>
                    <a:p>
                      <a:pPr algn="r"/>
                      <a:r>
                        <a:rPr sz="1400" b="0">
                          <a:solidFill>
                            <a:srgbClr val="1F2937"/>
                          </a:solidFill>
                          <a:latin typeface="Calibri"/>
                        </a:rPr>
                        <a:t>−382,467</a:t>
                      </a:r>
                    </a:p>
                  </a:txBody>
                  <a:tcPr marL="109728" marR="109728" anchor="ctr">
                    <a:solidFill>
                      <a:srgbClr val="FFFFFF"/>
                    </a:solidFill>
                  </a:tcPr>
                </a:tc>
              </a:tr>
              <a:tr h="444137">
                <a:tc>
                  <a:txBody>
                    <a:bodyPr/>
                    <a:lstStyle/>
                    <a:p>
                      <a:pPr algn="l"/>
                      <a:r>
                        <a:rPr sz="1400" b="1">
                          <a:solidFill>
                            <a:srgbClr val="1B2A4A"/>
                          </a:solidFill>
                          <a:latin typeface="Calibri"/>
                        </a:rPr>
                        <a:t>After cleaning</a:t>
                      </a:r>
                    </a:p>
                  </a:txBody>
                  <a:tcPr marL="109728" marR="109728" anchor="ctr">
                    <a:solidFill>
                      <a:srgbClr val="E4EAF6"/>
                    </a:solidFill>
                  </a:tcPr>
                </a:tc>
                <a:tc>
                  <a:txBody>
                    <a:bodyPr/>
                    <a:lstStyle/>
                    <a:p>
                      <a:pPr algn="r"/>
                      <a:r>
                        <a:rPr sz="1400" b="1">
                          <a:solidFill>
                            <a:srgbClr val="1B2A4A"/>
                          </a:solidFill>
                          <a:latin typeface="Calibri"/>
                        </a:rPr>
                        <a:t>1,714,826</a:t>
                      </a:r>
                    </a:p>
                  </a:txBody>
                  <a:tcPr marL="109728" marR="109728" anchor="ctr">
                    <a:solidFill>
                      <a:srgbClr val="E4EAF6"/>
                    </a:solidFill>
                  </a:tcPr>
                </a:tc>
              </a:tr>
              <a:tr h="444137">
                <a:tc>
                  <a:txBody>
                    <a:bodyPr/>
                    <a:lstStyle/>
                    <a:p>
                      <a:pPr algn="l"/>
                      <a:r>
                        <a:rPr sz="1400" b="0">
                          <a:solidFill>
                            <a:srgbClr val="1F2937"/>
                          </a:solidFill>
                          <a:latin typeface="Calibri"/>
                        </a:rPr>
                        <a:t>After capping benign at 600k</a:t>
                      </a:r>
                    </a:p>
                  </a:txBody>
                  <a:tcPr marL="109728" marR="109728" anchor="ctr">
                    <a:solidFill>
                      <a:srgbClr val="FFFFFF"/>
                    </a:solidFill>
                  </a:tcPr>
                </a:tc>
                <a:tc>
                  <a:txBody>
                    <a:bodyPr/>
                    <a:lstStyle/>
                    <a:p>
                      <a:pPr algn="r"/>
                      <a:r>
                        <a:rPr sz="1400" b="0">
                          <a:solidFill>
                            <a:srgbClr val="1F2937"/>
                          </a:solidFill>
                          <a:latin typeface="Calibri"/>
                        </a:rPr>
                        <a:t>882,246</a:t>
                      </a:r>
                    </a:p>
                  </a:txBody>
                  <a:tcPr marL="109728" marR="109728" anchor="ctr">
                    <a:solidFill>
                      <a:srgbClr val="FFFFFF"/>
                    </a:solidFill>
                  </a:tcPr>
                </a:tc>
              </a:tr>
              <a:tr h="444138">
                <a:tc>
                  <a:txBody>
                    <a:bodyPr/>
                    <a:lstStyle/>
                    <a:p>
                      <a:pPr algn="l"/>
                      <a:r>
                        <a:rPr sz="1400" b="1">
                          <a:solidFill>
                            <a:srgbClr val="1B2A4A"/>
                          </a:solidFill>
                          <a:latin typeface="Calibri"/>
                        </a:rPr>
                        <a:t>Train / test (80 / 20)</a:t>
                      </a:r>
                    </a:p>
                  </a:txBody>
                  <a:tcPr marL="109728" marR="109728" anchor="ctr">
                    <a:solidFill>
                      <a:srgbClr val="E4EAF6"/>
                    </a:solidFill>
                  </a:tcPr>
                </a:tc>
                <a:tc>
                  <a:txBody>
                    <a:bodyPr/>
                    <a:lstStyle/>
                    <a:p>
                      <a:pPr algn="r"/>
                      <a:r>
                        <a:rPr sz="1400" b="1">
                          <a:solidFill>
                            <a:srgbClr val="1B2A4A"/>
                          </a:solidFill>
                          <a:latin typeface="Calibri"/>
                        </a:rPr>
                        <a:t>705,796 / 176,450</a:t>
                      </a:r>
                    </a:p>
                  </a:txBody>
                  <a:tcPr marL="109728" marR="109728" anchor="ctr">
                    <a:solidFill>
                      <a:srgbClr val="E4EAF6"/>
                    </a:solidFill>
                  </a:tcPr>
                </a:tc>
              </a:tr>
            </a:tbl>
          </a:graphicData>
        </a:graphic>
      </p:graphicFrame>
      <p:graphicFrame>
        <p:nvGraphicFramePr>
          <p:cNvPr id="6" name="Chart 5"/>
          <p:cNvGraphicFramePr>
            <a:graphicFrameLocks noGrp="1"/>
          </p:cNvGraphicFramePr>
          <p:nvPr/>
        </p:nvGraphicFramePr>
        <p:xfrm>
          <a:off x="6035040" y="1691640"/>
          <a:ext cx="5605272" cy="3429000"/>
        </p:xfrm>
        <a:graphic>
          <a:graphicData uri="http://schemas.openxmlformats.org/drawingml/2006/chart">
            <c:chart xmlns:c="http://schemas.openxmlformats.org/drawingml/2006/chart" r:id="rId2"/>
          </a:graphicData>
        </a:graphic>
      </p:graphicFrame>
      <p:sp>
        <p:nvSpPr>
          <p:cNvPr id="7" name="Rounded Rectangle 6"/>
          <p:cNvSpPr/>
          <p:nvPr/>
        </p:nvSpPr>
        <p:spPr>
          <a:xfrm>
            <a:off x="548640" y="5257800"/>
            <a:ext cx="11091672" cy="868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321808"/>
            <a:ext cx="10698480" cy="777240"/>
          </a:xfrm>
          <a:prstGeom prst="rect">
            <a:avLst/>
          </a:prstGeom>
          <a:noFill/>
        </p:spPr>
        <p:txBody>
          <a:bodyPr wrap="square" lIns="0" rIns="0" tIns="0" bIns="0" anchor="ctr">
            <a:spAutoFit/>
          </a:bodyPr>
          <a:lstStyle/>
          <a:p>
            <a:pPr algn="l">
              <a:spcAft>
                <a:spcPts val="0"/>
              </a:spcAft>
            </a:pPr>
            <a:r>
              <a:rPr sz="1400" b="1" i="0">
                <a:solidFill>
                  <a:srgbClr val="1B2A4A"/>
                </a:solidFill>
                <a:latin typeface="Calibri"/>
              </a:rPr>
              <a:t>Port scans collapse from 231k to 7.7k flows </a:t>
            </a:r>
            <a:r>
              <a:rPr sz="1400" b="0" i="0">
                <a:solidFill>
                  <a:srgbClr val="1F2937"/>
                </a:solidFill>
                <a:latin typeface="Calibri"/>
              </a:rPr>
              <a:t>once ports are dropped: scan probes are identical SYN→RST flows. </a:t>
            </a:r>
            <a:r>
              <a:rPr sz="1400" b="1" i="0">
                <a:solidFill>
                  <a:srgbClr val="C0392B"/>
                </a:solidFill>
                <a:latin typeface="Calibri"/>
              </a:rPr>
              <a:t>Infiltration (36) and Heartbleed (11) </a:t>
            </a:r>
            <a:r>
              <a:rPr sz="1400" b="0" i="0">
                <a:solidFill>
                  <a:srgbClr val="1F2937"/>
                </a:solidFill>
                <a:latin typeface="Calibri"/>
              </a:rPr>
              <a:t>are too small for multi-class evaluation; they stay in the binary and leave-one-attack-out tests.</a:t>
            </a:r>
          </a:p>
        </p:txBody>
      </p:sp>
      <p:sp>
        <p:nvSpPr>
          <p:cNvPr id="9" name="TextBox 8"/>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Methodology</a:t>
            </a:r>
          </a:p>
        </p:txBody>
      </p:sp>
      <p:sp>
        <p:nvSpPr>
          <p:cNvPr id="10" name="TextBox 9"/>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METHODOLOGY</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Classifiers &amp; Class-Imbalance Handling</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Five model families, each trained with three imbalance strategies (14 runs; MLP has no class weights)</a:t>
            </a:r>
          </a:p>
        </p:txBody>
      </p:sp>
      <p:sp>
        <p:nvSpPr>
          <p:cNvPr id="5" name="Rounded Rectangle 4"/>
          <p:cNvSpPr/>
          <p:nvPr/>
        </p:nvSpPr>
        <p:spPr>
          <a:xfrm>
            <a:off x="548640" y="1783080"/>
            <a:ext cx="2093976" cy="2514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659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7" name="TextBox 6"/>
          <p:cNvSpPr txBox="1"/>
          <p:nvPr/>
        </p:nvSpPr>
        <p:spPr>
          <a:xfrm>
            <a:off x="731520" y="2560320"/>
            <a:ext cx="1728216"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Logistic Regression</a:t>
            </a:r>
          </a:p>
        </p:txBody>
      </p:sp>
      <p:sp>
        <p:nvSpPr>
          <p:cNvPr id="8" name="TextBox 7"/>
          <p:cNvSpPr txBox="1"/>
          <p:nvPr/>
        </p:nvSpPr>
        <p:spPr>
          <a:xfrm>
            <a:off x="731520" y="2898648"/>
            <a:ext cx="1728216" cy="274320"/>
          </a:xfrm>
          <a:prstGeom prst="rect">
            <a:avLst/>
          </a:prstGeom>
          <a:noFill/>
        </p:spPr>
        <p:txBody>
          <a:bodyPr wrap="square" lIns="0" rIns="0" tIns="0" bIns="0" anchor="t">
            <a:spAutoFit/>
          </a:bodyPr>
          <a:lstStyle/>
          <a:p>
            <a:pPr algn="l">
              <a:spcAft>
                <a:spcPts val="0"/>
              </a:spcAft>
            </a:pPr>
            <a:r>
              <a:rPr sz="1300" b="0" i="1">
                <a:solidFill>
                  <a:srgbClr val="5B6B82"/>
                </a:solidFill>
                <a:latin typeface="Calibri"/>
              </a:rPr>
              <a:t>Linear baseline</a:t>
            </a:r>
          </a:p>
        </p:txBody>
      </p:sp>
      <p:sp>
        <p:nvSpPr>
          <p:cNvPr id="9" name="TextBox 8"/>
          <p:cNvSpPr txBox="1"/>
          <p:nvPr/>
        </p:nvSpPr>
        <p:spPr>
          <a:xfrm>
            <a:off x="731520" y="3246120"/>
            <a:ext cx="1728216" cy="1005840"/>
          </a:xfrm>
          <a:prstGeom prst="rect">
            <a:avLst/>
          </a:prstGeom>
          <a:noFill/>
        </p:spPr>
        <p:txBody>
          <a:bodyPr wrap="square" lIns="0" rIns="0" tIns="0" bIns="0" anchor="t">
            <a:spAutoFit/>
          </a:bodyPr>
          <a:lstStyle/>
          <a:p>
            <a:pPr algn="l">
              <a:spcAft>
                <a:spcPts val="300"/>
              </a:spcAft>
            </a:pPr>
            <a:r>
              <a:rPr sz="1200" b="1" i="0">
                <a:solidFill>
                  <a:srgbClr val="1F2937"/>
                </a:solidFill>
                <a:latin typeface="Calibri"/>
              </a:rPr>
              <a:t>Tuned: </a:t>
            </a:r>
            <a:r>
              <a:rPr sz="1200" b="0" i="0">
                <a:solidFill>
                  <a:srgbClr val="1F2937"/>
                </a:solidFill>
                <a:latin typeface="Calibri"/>
              </a:rPr>
              <a:t>C (regularisation)</a:t>
            </a:r>
          </a:p>
          <a:p>
            <a:pPr algn="l">
              <a:spcAft>
                <a:spcPts val="300"/>
              </a:spcAft>
            </a:pPr>
            <a:r>
              <a:rPr sz="1200" b="1" i="0">
                <a:solidFill>
                  <a:srgbClr val="1F2937"/>
                </a:solidFill>
                <a:latin typeface="Calibri"/>
              </a:rPr>
              <a:t>Input: </a:t>
            </a:r>
            <a:r>
              <a:rPr sz="1200" b="0" i="0">
                <a:solidFill>
                  <a:srgbClr val="1F2937"/>
                </a:solidFill>
                <a:latin typeface="Calibri"/>
              </a:rPr>
              <a:t>log + standardise</a:t>
            </a:r>
          </a:p>
        </p:txBody>
      </p:sp>
      <p:sp>
        <p:nvSpPr>
          <p:cNvPr id="10" name="Rounded Rectangle 9"/>
          <p:cNvSpPr/>
          <p:nvPr/>
        </p:nvSpPr>
        <p:spPr>
          <a:xfrm>
            <a:off x="2798064" y="1783080"/>
            <a:ext cx="2093976" cy="2514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80944" y="19659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12" name="TextBox 11"/>
          <p:cNvSpPr txBox="1"/>
          <p:nvPr/>
        </p:nvSpPr>
        <p:spPr>
          <a:xfrm>
            <a:off x="2980944" y="2560320"/>
            <a:ext cx="1728216"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Random Forest</a:t>
            </a:r>
          </a:p>
        </p:txBody>
      </p:sp>
      <p:sp>
        <p:nvSpPr>
          <p:cNvPr id="13" name="TextBox 12"/>
          <p:cNvSpPr txBox="1"/>
          <p:nvPr/>
        </p:nvSpPr>
        <p:spPr>
          <a:xfrm>
            <a:off x="2980944" y="2898648"/>
            <a:ext cx="1728216" cy="274320"/>
          </a:xfrm>
          <a:prstGeom prst="rect">
            <a:avLst/>
          </a:prstGeom>
          <a:noFill/>
        </p:spPr>
        <p:txBody>
          <a:bodyPr wrap="square" lIns="0" rIns="0" tIns="0" bIns="0" anchor="t">
            <a:spAutoFit/>
          </a:bodyPr>
          <a:lstStyle/>
          <a:p>
            <a:pPr algn="l">
              <a:spcAft>
                <a:spcPts val="0"/>
              </a:spcAft>
            </a:pPr>
            <a:r>
              <a:rPr sz="1300" b="0" i="1">
                <a:solidFill>
                  <a:srgbClr val="5B6B82"/>
                </a:solidFill>
                <a:latin typeface="Calibri"/>
              </a:rPr>
              <a:t>Bagged trees</a:t>
            </a:r>
          </a:p>
        </p:txBody>
      </p:sp>
      <p:sp>
        <p:nvSpPr>
          <p:cNvPr id="14" name="TextBox 13"/>
          <p:cNvSpPr txBox="1"/>
          <p:nvPr/>
        </p:nvSpPr>
        <p:spPr>
          <a:xfrm>
            <a:off x="2980944" y="3246120"/>
            <a:ext cx="1728216" cy="1005840"/>
          </a:xfrm>
          <a:prstGeom prst="rect">
            <a:avLst/>
          </a:prstGeom>
          <a:noFill/>
        </p:spPr>
        <p:txBody>
          <a:bodyPr wrap="square" lIns="0" rIns="0" tIns="0" bIns="0" anchor="t">
            <a:spAutoFit/>
          </a:bodyPr>
          <a:lstStyle/>
          <a:p>
            <a:pPr algn="l">
              <a:spcAft>
                <a:spcPts val="300"/>
              </a:spcAft>
            </a:pPr>
            <a:r>
              <a:rPr sz="1200" b="1" i="0">
                <a:solidFill>
                  <a:srgbClr val="1F2937"/>
                </a:solidFill>
                <a:latin typeface="Calibri"/>
              </a:rPr>
              <a:t>Tuned: </a:t>
            </a:r>
            <a:r>
              <a:rPr sz="1200" b="0" i="0">
                <a:solidFill>
                  <a:srgbClr val="1F2937"/>
                </a:solidFill>
                <a:latin typeface="Calibri"/>
              </a:rPr>
              <a:t>trees, depth, split size, max features</a:t>
            </a:r>
          </a:p>
          <a:p>
            <a:pPr algn="l">
              <a:spcAft>
                <a:spcPts val="300"/>
              </a:spcAft>
            </a:pPr>
            <a:r>
              <a:rPr sz="1200" b="1" i="0">
                <a:solidFill>
                  <a:srgbClr val="1F2937"/>
                </a:solidFill>
                <a:latin typeface="Calibri"/>
              </a:rPr>
              <a:t>Input: </a:t>
            </a:r>
            <a:r>
              <a:rPr sz="1200" b="0" i="0">
                <a:solidFill>
                  <a:srgbClr val="1F2937"/>
                </a:solidFill>
                <a:latin typeface="Calibri"/>
              </a:rPr>
              <a:t>raw features</a:t>
            </a:r>
          </a:p>
        </p:txBody>
      </p:sp>
      <p:sp>
        <p:nvSpPr>
          <p:cNvPr id="15" name="Rounded Rectangle 14"/>
          <p:cNvSpPr/>
          <p:nvPr/>
        </p:nvSpPr>
        <p:spPr>
          <a:xfrm>
            <a:off x="5047488" y="1783080"/>
            <a:ext cx="2093976" cy="2514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30368" y="19659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17" name="TextBox 16"/>
          <p:cNvSpPr txBox="1"/>
          <p:nvPr/>
        </p:nvSpPr>
        <p:spPr>
          <a:xfrm>
            <a:off x="5230368" y="2560320"/>
            <a:ext cx="1728216"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XGBoost</a:t>
            </a:r>
          </a:p>
        </p:txBody>
      </p:sp>
      <p:sp>
        <p:nvSpPr>
          <p:cNvPr id="18" name="TextBox 17"/>
          <p:cNvSpPr txBox="1"/>
          <p:nvPr/>
        </p:nvSpPr>
        <p:spPr>
          <a:xfrm>
            <a:off x="5230368" y="2898648"/>
            <a:ext cx="1728216" cy="274320"/>
          </a:xfrm>
          <a:prstGeom prst="rect">
            <a:avLst/>
          </a:prstGeom>
          <a:noFill/>
        </p:spPr>
        <p:txBody>
          <a:bodyPr wrap="square" lIns="0" rIns="0" tIns="0" bIns="0" anchor="t">
            <a:spAutoFit/>
          </a:bodyPr>
          <a:lstStyle/>
          <a:p>
            <a:pPr algn="l">
              <a:spcAft>
                <a:spcPts val="0"/>
              </a:spcAft>
            </a:pPr>
            <a:r>
              <a:rPr sz="1300" b="0" i="1">
                <a:solidFill>
                  <a:srgbClr val="5B6B82"/>
                </a:solidFill>
                <a:latin typeface="Calibri"/>
              </a:rPr>
              <a:t>Gradient boosting</a:t>
            </a:r>
          </a:p>
        </p:txBody>
      </p:sp>
      <p:sp>
        <p:nvSpPr>
          <p:cNvPr id="19" name="TextBox 18"/>
          <p:cNvSpPr txBox="1"/>
          <p:nvPr/>
        </p:nvSpPr>
        <p:spPr>
          <a:xfrm>
            <a:off x="5230368" y="3246120"/>
            <a:ext cx="1728216" cy="1005840"/>
          </a:xfrm>
          <a:prstGeom prst="rect">
            <a:avLst/>
          </a:prstGeom>
          <a:noFill/>
        </p:spPr>
        <p:txBody>
          <a:bodyPr wrap="square" lIns="0" rIns="0" tIns="0" bIns="0" anchor="t">
            <a:spAutoFit/>
          </a:bodyPr>
          <a:lstStyle/>
          <a:p>
            <a:pPr algn="l">
              <a:spcAft>
                <a:spcPts val="300"/>
              </a:spcAft>
            </a:pPr>
            <a:r>
              <a:rPr sz="1200" b="1" i="0">
                <a:solidFill>
                  <a:srgbClr val="1F2937"/>
                </a:solidFill>
                <a:latin typeface="Calibri"/>
              </a:rPr>
              <a:t>Tuned: </a:t>
            </a:r>
            <a:r>
              <a:rPr sz="1200" b="0" i="0">
                <a:solidFill>
                  <a:srgbClr val="1F2937"/>
                </a:solidFill>
                <a:latin typeface="Calibri"/>
              </a:rPr>
              <a:t>learning rate, depth, trees, subsampling</a:t>
            </a:r>
          </a:p>
          <a:p>
            <a:pPr algn="l">
              <a:spcAft>
                <a:spcPts val="300"/>
              </a:spcAft>
            </a:pPr>
            <a:r>
              <a:rPr sz="1200" b="1" i="0">
                <a:solidFill>
                  <a:srgbClr val="1F2937"/>
                </a:solidFill>
                <a:latin typeface="Calibri"/>
              </a:rPr>
              <a:t>Input: </a:t>
            </a:r>
            <a:r>
              <a:rPr sz="1200" b="0" i="0">
                <a:solidFill>
                  <a:srgbClr val="1F2937"/>
                </a:solidFill>
                <a:latin typeface="Calibri"/>
              </a:rPr>
              <a:t>raw features</a:t>
            </a:r>
          </a:p>
        </p:txBody>
      </p:sp>
      <p:sp>
        <p:nvSpPr>
          <p:cNvPr id="20" name="Rounded Rectangle 19"/>
          <p:cNvSpPr/>
          <p:nvPr/>
        </p:nvSpPr>
        <p:spPr>
          <a:xfrm>
            <a:off x="7296912" y="1783080"/>
            <a:ext cx="2093976" cy="2514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79792" y="19659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4</a:t>
            </a:r>
          </a:p>
        </p:txBody>
      </p:sp>
      <p:sp>
        <p:nvSpPr>
          <p:cNvPr id="22" name="TextBox 21"/>
          <p:cNvSpPr txBox="1"/>
          <p:nvPr/>
        </p:nvSpPr>
        <p:spPr>
          <a:xfrm>
            <a:off x="7479792" y="2560320"/>
            <a:ext cx="1728216"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RBF-SVM</a:t>
            </a:r>
          </a:p>
        </p:txBody>
      </p:sp>
      <p:sp>
        <p:nvSpPr>
          <p:cNvPr id="23" name="TextBox 22"/>
          <p:cNvSpPr txBox="1"/>
          <p:nvPr/>
        </p:nvSpPr>
        <p:spPr>
          <a:xfrm>
            <a:off x="7479792" y="2898648"/>
            <a:ext cx="1728216" cy="274320"/>
          </a:xfrm>
          <a:prstGeom prst="rect">
            <a:avLst/>
          </a:prstGeom>
          <a:noFill/>
        </p:spPr>
        <p:txBody>
          <a:bodyPr wrap="square" lIns="0" rIns="0" tIns="0" bIns="0" anchor="t">
            <a:spAutoFit/>
          </a:bodyPr>
          <a:lstStyle/>
          <a:p>
            <a:pPr algn="l">
              <a:spcAft>
                <a:spcPts val="0"/>
              </a:spcAft>
            </a:pPr>
            <a:r>
              <a:rPr sz="1300" b="0" i="1">
                <a:solidFill>
                  <a:srgbClr val="5B6B82"/>
                </a:solidFill>
                <a:latin typeface="Calibri"/>
              </a:rPr>
              <a:t>Margin classifier</a:t>
            </a:r>
          </a:p>
        </p:txBody>
      </p:sp>
      <p:sp>
        <p:nvSpPr>
          <p:cNvPr id="24" name="TextBox 23"/>
          <p:cNvSpPr txBox="1"/>
          <p:nvPr/>
        </p:nvSpPr>
        <p:spPr>
          <a:xfrm>
            <a:off x="7479792" y="3246120"/>
            <a:ext cx="1728216" cy="1005840"/>
          </a:xfrm>
          <a:prstGeom prst="rect">
            <a:avLst/>
          </a:prstGeom>
          <a:noFill/>
        </p:spPr>
        <p:txBody>
          <a:bodyPr wrap="square" lIns="0" rIns="0" tIns="0" bIns="0" anchor="t">
            <a:spAutoFit/>
          </a:bodyPr>
          <a:lstStyle/>
          <a:p>
            <a:pPr algn="l">
              <a:spcAft>
                <a:spcPts val="300"/>
              </a:spcAft>
            </a:pPr>
            <a:r>
              <a:rPr sz="1200" b="1" i="0">
                <a:solidFill>
                  <a:srgbClr val="1F2937"/>
                </a:solidFill>
                <a:latin typeface="Calibri"/>
              </a:rPr>
              <a:t>Tuned: </a:t>
            </a:r>
            <a:r>
              <a:rPr sz="1200" b="0" i="0">
                <a:solidFill>
                  <a:srgbClr val="1F2937"/>
                </a:solidFill>
                <a:latin typeface="Calibri"/>
              </a:rPr>
              <a:t>C, γ  —  trained on 60k rows (cost ∝ n²)</a:t>
            </a:r>
          </a:p>
          <a:p>
            <a:pPr algn="l">
              <a:spcAft>
                <a:spcPts val="300"/>
              </a:spcAft>
            </a:pPr>
            <a:r>
              <a:rPr sz="1200" b="1" i="0">
                <a:solidFill>
                  <a:srgbClr val="1F2937"/>
                </a:solidFill>
                <a:latin typeface="Calibri"/>
              </a:rPr>
              <a:t>Input: </a:t>
            </a:r>
            <a:r>
              <a:rPr sz="1200" b="0" i="0">
                <a:solidFill>
                  <a:srgbClr val="1F2937"/>
                </a:solidFill>
                <a:latin typeface="Calibri"/>
              </a:rPr>
              <a:t>log + standardise</a:t>
            </a:r>
          </a:p>
        </p:txBody>
      </p:sp>
      <p:sp>
        <p:nvSpPr>
          <p:cNvPr id="25" name="Rounded Rectangle 24"/>
          <p:cNvSpPr/>
          <p:nvPr/>
        </p:nvSpPr>
        <p:spPr>
          <a:xfrm>
            <a:off x="9546336" y="1783080"/>
            <a:ext cx="2093976" cy="2514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29215" y="19659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5</a:t>
            </a:r>
          </a:p>
        </p:txBody>
      </p:sp>
      <p:sp>
        <p:nvSpPr>
          <p:cNvPr id="27" name="TextBox 26"/>
          <p:cNvSpPr txBox="1"/>
          <p:nvPr/>
        </p:nvSpPr>
        <p:spPr>
          <a:xfrm>
            <a:off x="9729215" y="2560320"/>
            <a:ext cx="1728216"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MLP</a:t>
            </a:r>
          </a:p>
        </p:txBody>
      </p:sp>
      <p:sp>
        <p:nvSpPr>
          <p:cNvPr id="28" name="TextBox 27"/>
          <p:cNvSpPr txBox="1"/>
          <p:nvPr/>
        </p:nvSpPr>
        <p:spPr>
          <a:xfrm>
            <a:off x="9729215" y="2898648"/>
            <a:ext cx="1728216" cy="274320"/>
          </a:xfrm>
          <a:prstGeom prst="rect">
            <a:avLst/>
          </a:prstGeom>
          <a:noFill/>
        </p:spPr>
        <p:txBody>
          <a:bodyPr wrap="square" lIns="0" rIns="0" tIns="0" bIns="0" anchor="t">
            <a:spAutoFit/>
          </a:bodyPr>
          <a:lstStyle/>
          <a:p>
            <a:pPr algn="l">
              <a:spcAft>
                <a:spcPts val="0"/>
              </a:spcAft>
            </a:pPr>
            <a:r>
              <a:rPr sz="1300" b="0" i="1">
                <a:solidFill>
                  <a:srgbClr val="5B6B82"/>
                </a:solidFill>
                <a:latin typeface="Calibri"/>
              </a:rPr>
              <a:t>Feed-forward net</a:t>
            </a:r>
          </a:p>
        </p:txBody>
      </p:sp>
      <p:sp>
        <p:nvSpPr>
          <p:cNvPr id="29" name="TextBox 28"/>
          <p:cNvSpPr txBox="1"/>
          <p:nvPr/>
        </p:nvSpPr>
        <p:spPr>
          <a:xfrm>
            <a:off x="9729215" y="3246120"/>
            <a:ext cx="1728216" cy="1005840"/>
          </a:xfrm>
          <a:prstGeom prst="rect">
            <a:avLst/>
          </a:prstGeom>
          <a:noFill/>
        </p:spPr>
        <p:txBody>
          <a:bodyPr wrap="square" lIns="0" rIns="0" tIns="0" bIns="0" anchor="t">
            <a:spAutoFit/>
          </a:bodyPr>
          <a:lstStyle/>
          <a:p>
            <a:pPr algn="l">
              <a:spcAft>
                <a:spcPts val="300"/>
              </a:spcAft>
            </a:pPr>
            <a:r>
              <a:rPr sz="1200" b="1" i="0">
                <a:solidFill>
                  <a:srgbClr val="1F2937"/>
                </a:solidFill>
                <a:latin typeface="Calibri"/>
              </a:rPr>
              <a:t>Tuned: </a:t>
            </a:r>
            <a:r>
              <a:rPr sz="1200" b="0" i="0">
                <a:solidFill>
                  <a:srgbClr val="1F2937"/>
                </a:solidFill>
                <a:latin typeface="Calibri"/>
              </a:rPr>
              <a:t>layer sizes, learning rate, α, activation</a:t>
            </a:r>
          </a:p>
          <a:p>
            <a:pPr algn="l">
              <a:spcAft>
                <a:spcPts val="300"/>
              </a:spcAft>
            </a:pPr>
            <a:r>
              <a:rPr sz="1200" b="1" i="0">
                <a:solidFill>
                  <a:srgbClr val="1F2937"/>
                </a:solidFill>
                <a:latin typeface="Calibri"/>
              </a:rPr>
              <a:t>Input: </a:t>
            </a:r>
            <a:r>
              <a:rPr sz="1200" b="0" i="0">
                <a:solidFill>
                  <a:srgbClr val="1F2937"/>
                </a:solidFill>
                <a:latin typeface="Calibri"/>
              </a:rPr>
              <a:t>log + standardise</a:t>
            </a:r>
          </a:p>
        </p:txBody>
      </p:sp>
      <p:sp>
        <p:nvSpPr>
          <p:cNvPr id="30" name="TextBox 29"/>
          <p:cNvSpPr txBox="1"/>
          <p:nvPr/>
        </p:nvSpPr>
        <p:spPr>
          <a:xfrm>
            <a:off x="548640" y="4526280"/>
            <a:ext cx="54864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IMBALANCE STRATEGIES</a:t>
            </a:r>
          </a:p>
        </p:txBody>
      </p:sp>
      <p:sp>
        <p:nvSpPr>
          <p:cNvPr id="31" name="Rounded Rectangle 30"/>
          <p:cNvSpPr/>
          <p:nvPr/>
        </p:nvSpPr>
        <p:spPr>
          <a:xfrm>
            <a:off x="548640" y="4846320"/>
            <a:ext cx="3575304" cy="1280160"/>
          </a:xfrm>
          <a:prstGeom prst="roundRect">
            <a:avLst>
              <a:gd name="adj" fmla="val 6000"/>
            </a:avLst>
          </a:prstGeom>
          <a:solidFill>
            <a:srgbClr val="FFFFFF"/>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956048"/>
            <a:ext cx="3200400" cy="1097280"/>
          </a:xfrm>
          <a:prstGeom prst="rect">
            <a:avLst/>
          </a:prstGeom>
          <a:noFill/>
        </p:spPr>
        <p:txBody>
          <a:bodyPr wrap="square" lIns="0" rIns="0" tIns="0" bIns="0" anchor="t">
            <a:spAutoFit/>
          </a:bodyPr>
          <a:lstStyle/>
          <a:p>
            <a:pPr algn="l">
              <a:spcAft>
                <a:spcPts val="300"/>
              </a:spcAft>
            </a:pPr>
            <a:r>
              <a:rPr sz="1500" b="1" i="0">
                <a:solidFill>
                  <a:srgbClr val="1B2A4A"/>
                </a:solidFill>
                <a:latin typeface="Calibri"/>
              </a:rPr>
              <a:t>None</a:t>
            </a:r>
          </a:p>
          <a:p>
            <a:pPr algn="l">
              <a:spcAft>
                <a:spcPts val="300"/>
              </a:spcAft>
            </a:pPr>
            <a:r>
              <a:rPr sz="1300" b="0" i="0">
                <a:solidFill>
                  <a:srgbClr val="1F2937"/>
                </a:solidFill>
                <a:latin typeface="Calibri"/>
              </a:rPr>
              <a:t>Learn from the natural class mix.</a:t>
            </a:r>
          </a:p>
        </p:txBody>
      </p:sp>
      <p:sp>
        <p:nvSpPr>
          <p:cNvPr id="33" name="Rounded Rectangle 32"/>
          <p:cNvSpPr/>
          <p:nvPr/>
        </p:nvSpPr>
        <p:spPr>
          <a:xfrm>
            <a:off x="4306824" y="4846320"/>
            <a:ext cx="3575304" cy="1280160"/>
          </a:xfrm>
          <a:prstGeom prst="roundRect">
            <a:avLst>
              <a:gd name="adj" fmla="val 6000"/>
            </a:avLst>
          </a:prstGeom>
          <a:solidFill>
            <a:srgbClr val="FFFFFF"/>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9704" y="4956048"/>
            <a:ext cx="3200400" cy="1097280"/>
          </a:xfrm>
          <a:prstGeom prst="rect">
            <a:avLst/>
          </a:prstGeom>
          <a:noFill/>
        </p:spPr>
        <p:txBody>
          <a:bodyPr wrap="square" lIns="0" rIns="0" tIns="0" bIns="0" anchor="t">
            <a:spAutoFit/>
          </a:bodyPr>
          <a:lstStyle/>
          <a:p>
            <a:pPr algn="l">
              <a:spcAft>
                <a:spcPts val="300"/>
              </a:spcAft>
            </a:pPr>
            <a:r>
              <a:rPr sz="1500" b="1" i="0">
                <a:solidFill>
                  <a:srgbClr val="1B2A4A"/>
                </a:solidFill>
                <a:latin typeface="Calibri"/>
              </a:rPr>
              <a:t>Class weights</a:t>
            </a:r>
          </a:p>
          <a:p>
            <a:pPr algn="l">
              <a:spcAft>
                <a:spcPts val="300"/>
              </a:spcAft>
            </a:pPr>
            <a:r>
              <a:rPr sz="1300" b="0" i="0">
                <a:solidFill>
                  <a:srgbClr val="1F2937"/>
                </a:solidFill>
                <a:latin typeface="Calibri"/>
              </a:rPr>
              <a:t>Loss weighted by inverse class frequency (sample weights for XGBoost).</a:t>
            </a:r>
          </a:p>
        </p:txBody>
      </p:sp>
      <p:sp>
        <p:nvSpPr>
          <p:cNvPr id="35" name="Rounded Rectangle 34"/>
          <p:cNvSpPr/>
          <p:nvPr/>
        </p:nvSpPr>
        <p:spPr>
          <a:xfrm>
            <a:off x="8065008" y="4846320"/>
            <a:ext cx="3575304" cy="1280160"/>
          </a:xfrm>
          <a:prstGeom prst="roundRect">
            <a:avLst>
              <a:gd name="adj" fmla="val 6000"/>
            </a:avLst>
          </a:prstGeom>
          <a:solidFill>
            <a:srgbClr val="FFFFFF"/>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8" y="4956048"/>
            <a:ext cx="3200400" cy="1097280"/>
          </a:xfrm>
          <a:prstGeom prst="rect">
            <a:avLst/>
          </a:prstGeom>
          <a:noFill/>
        </p:spPr>
        <p:txBody>
          <a:bodyPr wrap="square" lIns="0" rIns="0" tIns="0" bIns="0" anchor="t">
            <a:spAutoFit/>
          </a:bodyPr>
          <a:lstStyle/>
          <a:p>
            <a:pPr algn="l">
              <a:spcAft>
                <a:spcPts val="300"/>
              </a:spcAft>
            </a:pPr>
            <a:r>
              <a:rPr sz="1500" b="1" i="0">
                <a:solidFill>
                  <a:srgbClr val="1B2A4A"/>
                </a:solidFill>
                <a:latin typeface="Calibri"/>
              </a:rPr>
              <a:t>SMOTE</a:t>
            </a:r>
          </a:p>
          <a:p>
            <a:pPr algn="l">
              <a:spcAft>
                <a:spcPts val="300"/>
              </a:spcAft>
            </a:pPr>
            <a:r>
              <a:rPr sz="1300" b="0" i="0">
                <a:solidFill>
                  <a:srgbClr val="1F2937"/>
                </a:solidFill>
                <a:latin typeface="Calibri"/>
              </a:rPr>
              <a:t>Inside each CV fold only; minority classes raised to 20k rows; neighbours found in log space.</a:t>
            </a:r>
          </a:p>
        </p:txBody>
      </p:sp>
      <p:sp>
        <p:nvSpPr>
          <p:cNvPr id="37" name="TextBox 36"/>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Methodology</a:t>
            </a:r>
          </a:p>
        </p:txBody>
      </p:sp>
      <p:sp>
        <p:nvSpPr>
          <p:cNvPr id="38" name="TextBox 37"/>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METHODOLOGY</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Evaluation Protocol</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Accuracy alone hides failures; each test below answers a different question</a:t>
            </a:r>
          </a:p>
        </p:txBody>
      </p:sp>
      <p:sp>
        <p:nvSpPr>
          <p:cNvPr id="5" name="Rounded Rectangle 4"/>
          <p:cNvSpPr/>
          <p:nvPr/>
        </p:nvSpPr>
        <p:spPr>
          <a:xfrm>
            <a:off x="548640" y="178308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01168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1</a:t>
            </a:r>
          </a:p>
        </p:txBody>
      </p:sp>
      <p:sp>
        <p:nvSpPr>
          <p:cNvPr id="7" name="TextBox 6"/>
          <p:cNvSpPr txBox="1"/>
          <p:nvPr/>
        </p:nvSpPr>
        <p:spPr>
          <a:xfrm>
            <a:off x="1417319" y="207568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Metrics</a:t>
            </a:r>
          </a:p>
        </p:txBody>
      </p:sp>
      <p:sp>
        <p:nvSpPr>
          <p:cNvPr id="8" name="TextBox 7"/>
          <p:cNvSpPr txBox="1"/>
          <p:nvPr/>
        </p:nvSpPr>
        <p:spPr>
          <a:xfrm>
            <a:off x="777240" y="265176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Macro-F1, per-class recall, benign false-positive rate, PR-AUC, detection rate at 0.1% and 1% FPR</a:t>
            </a:r>
          </a:p>
        </p:txBody>
      </p:sp>
      <p:sp>
        <p:nvSpPr>
          <p:cNvPr id="9" name="Rounded Rectangle 8"/>
          <p:cNvSpPr/>
          <p:nvPr/>
        </p:nvSpPr>
        <p:spPr>
          <a:xfrm>
            <a:off x="4306824" y="178308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35424" y="201168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2</a:t>
            </a:r>
          </a:p>
        </p:txBody>
      </p:sp>
      <p:sp>
        <p:nvSpPr>
          <p:cNvPr id="11" name="TextBox 10"/>
          <p:cNvSpPr txBox="1"/>
          <p:nvPr/>
        </p:nvSpPr>
        <p:spPr>
          <a:xfrm>
            <a:off x="5175504" y="207568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Significance</a:t>
            </a:r>
          </a:p>
        </p:txBody>
      </p:sp>
      <p:sp>
        <p:nvSpPr>
          <p:cNvPr id="12" name="TextBox 11"/>
          <p:cNvSpPr txBox="1"/>
          <p:nvPr/>
        </p:nvSpPr>
        <p:spPr>
          <a:xfrm>
            <a:off x="4535424" y="265176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Nadeau–Bengio corrected t-test on 5-fold CV scores, plus McNemar's test on the test set</a:t>
            </a:r>
          </a:p>
        </p:txBody>
      </p:sp>
      <p:sp>
        <p:nvSpPr>
          <p:cNvPr id="13" name="Rounded Rectangle 12"/>
          <p:cNvSpPr/>
          <p:nvPr/>
        </p:nvSpPr>
        <p:spPr>
          <a:xfrm>
            <a:off x="8065008" y="178308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93608" y="201168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3</a:t>
            </a:r>
          </a:p>
        </p:txBody>
      </p:sp>
      <p:sp>
        <p:nvSpPr>
          <p:cNvPr id="15" name="TextBox 14"/>
          <p:cNvSpPr txBox="1"/>
          <p:nvPr/>
        </p:nvSpPr>
        <p:spPr>
          <a:xfrm>
            <a:off x="8933688" y="207568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Leakage check</a:t>
            </a:r>
          </a:p>
        </p:txBody>
      </p:sp>
      <p:sp>
        <p:nvSpPr>
          <p:cNvPr id="16" name="TextBox 15"/>
          <p:cNvSpPr txBox="1"/>
          <p:nvPr/>
        </p:nvSpPr>
        <p:spPr>
          <a:xfrm>
            <a:off x="8293608" y="265176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Time-block split: flows grouped into 5-minute blocks that never straddle train and test</a:t>
            </a:r>
          </a:p>
        </p:txBody>
      </p:sp>
      <p:sp>
        <p:nvSpPr>
          <p:cNvPr id="17" name="Rounded Rectangle 16"/>
          <p:cNvSpPr/>
          <p:nvPr/>
        </p:nvSpPr>
        <p:spPr>
          <a:xfrm>
            <a:off x="548640" y="402336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425196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4</a:t>
            </a:r>
          </a:p>
        </p:txBody>
      </p:sp>
      <p:sp>
        <p:nvSpPr>
          <p:cNvPr id="19" name="TextBox 18"/>
          <p:cNvSpPr txBox="1"/>
          <p:nvPr/>
        </p:nvSpPr>
        <p:spPr>
          <a:xfrm>
            <a:off x="1417319" y="431596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Explainability</a:t>
            </a:r>
          </a:p>
        </p:txBody>
      </p:sp>
      <p:sp>
        <p:nvSpPr>
          <p:cNvPr id="20" name="TextBox 19"/>
          <p:cNvSpPr txBox="1"/>
          <p:nvPr/>
        </p:nvSpPr>
        <p:spPr>
          <a:xfrm>
            <a:off x="777240" y="489204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SHAP TreeExplainer: global feature ranking and per-flow explanations of alerts</a:t>
            </a:r>
          </a:p>
        </p:txBody>
      </p:sp>
      <p:sp>
        <p:nvSpPr>
          <p:cNvPr id="21" name="Rounded Rectangle 20"/>
          <p:cNvSpPr/>
          <p:nvPr/>
        </p:nvSpPr>
        <p:spPr>
          <a:xfrm>
            <a:off x="4306824" y="402336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35424" y="425196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5</a:t>
            </a:r>
          </a:p>
        </p:txBody>
      </p:sp>
      <p:sp>
        <p:nvSpPr>
          <p:cNvPr id="23" name="TextBox 22"/>
          <p:cNvSpPr txBox="1"/>
          <p:nvPr/>
        </p:nvSpPr>
        <p:spPr>
          <a:xfrm>
            <a:off x="5175504" y="431596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Deployability</a:t>
            </a:r>
          </a:p>
        </p:txBody>
      </p:sp>
      <p:sp>
        <p:nvSpPr>
          <p:cNvPr id="24" name="TextBox 23"/>
          <p:cNvSpPr txBox="1"/>
          <p:nvPr/>
        </p:nvSpPr>
        <p:spPr>
          <a:xfrm>
            <a:off x="4535424" y="489204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Model size, single-flow latency (1 thread), batch throughput, ONNX Runtime latency</a:t>
            </a:r>
          </a:p>
        </p:txBody>
      </p:sp>
      <p:sp>
        <p:nvSpPr>
          <p:cNvPr id="25" name="Rounded Rectangle 24"/>
          <p:cNvSpPr/>
          <p:nvPr/>
        </p:nvSpPr>
        <p:spPr>
          <a:xfrm>
            <a:off x="8065008" y="4023360"/>
            <a:ext cx="3575304" cy="20116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93608" y="425196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6</a:t>
            </a:r>
          </a:p>
        </p:txBody>
      </p:sp>
      <p:sp>
        <p:nvSpPr>
          <p:cNvPr id="27" name="TextBox 26"/>
          <p:cNvSpPr txBox="1"/>
          <p:nvPr/>
        </p:nvSpPr>
        <p:spPr>
          <a:xfrm>
            <a:off x="8933688" y="4315968"/>
            <a:ext cx="2560320" cy="365760"/>
          </a:xfrm>
          <a:prstGeom prst="rect">
            <a:avLst/>
          </a:prstGeom>
          <a:noFill/>
        </p:spPr>
        <p:txBody>
          <a:bodyPr wrap="square" lIns="0" rIns="0" tIns="0" bIns="0" anchor="t">
            <a:spAutoFit/>
          </a:bodyPr>
          <a:lstStyle/>
          <a:p>
            <a:pPr algn="l">
              <a:spcAft>
                <a:spcPts val="0"/>
              </a:spcAft>
            </a:pPr>
            <a:r>
              <a:rPr sz="1700" b="1" i="0">
                <a:solidFill>
                  <a:srgbClr val="1B2A4A"/>
                </a:solidFill>
                <a:latin typeface="Calibri"/>
              </a:rPr>
              <a:t>Generalisation</a:t>
            </a:r>
          </a:p>
        </p:txBody>
      </p:sp>
      <p:sp>
        <p:nvSpPr>
          <p:cNvPr id="28" name="TextBox 27"/>
          <p:cNvSpPr txBox="1"/>
          <p:nvPr/>
        </p:nvSpPr>
        <p:spPr>
          <a:xfrm>
            <a:off x="8293608" y="4892040"/>
            <a:ext cx="3108960" cy="10515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Leave-one-attack-out (zero-day proxy) and corrected CSE-CIC-IDS2018 with no retraining</a:t>
            </a:r>
          </a:p>
        </p:txBody>
      </p:sp>
      <p:sp>
        <p:nvSpPr>
          <p:cNvPr id="29" name="TextBox 28"/>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Methodology</a:t>
            </a:r>
          </a:p>
        </p:txBody>
      </p:sp>
      <p:sp>
        <p:nvSpPr>
          <p:cNvPr id="30" name="TextBox 29"/>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Overall Performance</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Best strategy per model; macro-F1 on the held-out test set</a:t>
            </a:r>
          </a:p>
        </p:txBody>
      </p:sp>
      <p:graphicFrame>
        <p:nvGraphicFramePr>
          <p:cNvPr id="5" name="Chart 4"/>
          <p:cNvGraphicFramePr>
            <a:graphicFrameLocks noGrp="1"/>
          </p:cNvGraphicFramePr>
          <p:nvPr/>
        </p:nvGraphicFramePr>
        <p:xfrm>
          <a:off x="548640" y="1691640"/>
          <a:ext cx="694944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7863840" y="1783080"/>
            <a:ext cx="3776472" cy="1371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965960"/>
            <a:ext cx="3319272" cy="100584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Random Forest ≈ XGBoost</a:t>
            </a:r>
          </a:p>
          <a:p>
            <a:pPr algn="l">
              <a:spcAft>
                <a:spcPts val="400"/>
              </a:spcAft>
            </a:pPr>
            <a:r>
              <a:rPr sz="1400" b="0" i="0">
                <a:solidFill>
                  <a:srgbClr val="1F2937"/>
                </a:solidFill>
                <a:latin typeface="Calibri"/>
              </a:rPr>
              <a:t>Statistically tied: corrected t-test p = 0.92 (random) and 0.96 (time-block).</a:t>
            </a:r>
          </a:p>
        </p:txBody>
      </p:sp>
      <p:sp>
        <p:nvSpPr>
          <p:cNvPr id="8" name="Rounded Rectangle 7"/>
          <p:cNvSpPr/>
          <p:nvPr/>
        </p:nvSpPr>
        <p:spPr>
          <a:xfrm>
            <a:off x="7863840" y="3291840"/>
            <a:ext cx="3776472" cy="13716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3474720"/>
            <a:ext cx="3319272" cy="100584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Benign vs attack barely moves</a:t>
            </a:r>
          </a:p>
          <a:p>
            <a:pPr algn="l">
              <a:spcAft>
                <a:spcPts val="400"/>
              </a:spcAft>
            </a:pPr>
            <a:r>
              <a:rPr sz="1400" b="0" i="0">
                <a:solidFill>
                  <a:srgbClr val="1F2937"/>
                </a:solidFill>
                <a:latin typeface="Calibri"/>
              </a:rPr>
              <a:t>Time-block split: attack recall ≥ 0.996, benign FPR &lt; 0.01% for Random Forest.</a:t>
            </a:r>
          </a:p>
        </p:txBody>
      </p:sp>
      <p:sp>
        <p:nvSpPr>
          <p:cNvPr id="10" name="Rounded Rectangle 9"/>
          <p:cNvSpPr/>
          <p:nvPr/>
        </p:nvSpPr>
        <p:spPr>
          <a:xfrm>
            <a:off x="7863840" y="4800600"/>
            <a:ext cx="3776472" cy="1417320"/>
          </a:xfrm>
          <a:prstGeom prst="roundRect">
            <a:avLst>
              <a:gd name="adj" fmla="val 6000"/>
            </a:avLst>
          </a:prstGeom>
          <a:solidFill>
            <a:srgbClr val="FCE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4983480"/>
            <a:ext cx="3319272" cy="105156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Multi-class drop: 0.99 → 0.94</a:t>
            </a:r>
          </a:p>
          <a:p>
            <a:pPr algn="l">
              <a:spcAft>
                <a:spcPts val="400"/>
              </a:spcAft>
            </a:pPr>
            <a:r>
              <a:rPr sz="1400" b="0" i="0">
                <a:solidFill>
                  <a:srgbClr val="1F2937"/>
                </a:solidFill>
                <a:latin typeface="Calibri"/>
              </a:rPr>
              <a:t>Almost entirely one class (WebAttack). See the next slide.</a:t>
            </a:r>
          </a:p>
        </p:txBody>
      </p:sp>
      <p:sp>
        <p:nvSpPr>
          <p:cNvPr id="12" name="TextBox 11"/>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3" name="TextBox 12"/>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Per-Class Recall &amp; Class Imbalance</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Time-block split, best strategy per model; aggregate accuracy hides the weak class</a:t>
            </a:r>
          </a:p>
        </p:txBody>
      </p:sp>
      <p:graphicFrame>
        <p:nvGraphicFramePr>
          <p:cNvPr id="5" name="per-class recall"/>
          <p:cNvGraphicFramePr>
            <a:graphicFrameLocks noGrp="1"/>
          </p:cNvGraphicFramePr>
          <p:nvPr/>
        </p:nvGraphicFramePr>
        <p:xfrm>
          <a:off x="548640" y="1783080"/>
          <a:ext cx="7315194" cy="3108960"/>
        </p:xfrm>
        <a:graphic>
          <a:graphicData uri="http://schemas.openxmlformats.org/drawingml/2006/table">
            <a:tbl>
              <a:tblPr firstRow="1">
                <a:tableStyleId>{5C22544A-7EE6-4342-B048-85BDC9FD1C3A}</a:tableStyleId>
              </a:tblPr>
              <a:tblGrid>
                <a:gridCol w="1463040"/>
                <a:gridCol w="836022"/>
                <a:gridCol w="836022"/>
                <a:gridCol w="836022"/>
                <a:gridCol w="836022"/>
                <a:gridCol w="836022"/>
                <a:gridCol w="836022"/>
                <a:gridCol w="836022"/>
              </a:tblGrid>
              <a:tr h="444137">
                <a:tc>
                  <a:txBody>
                    <a:bodyPr/>
                    <a:lstStyle/>
                    <a:p>
                      <a:pPr algn="l"/>
                      <a:r>
                        <a:rPr sz="1200" b="1">
                          <a:solidFill>
                            <a:srgbClr val="FFFFFF"/>
                          </a:solidFill>
                          <a:latin typeface="Calibri"/>
                        </a:rPr>
                        <a:t>Model</a:t>
                      </a:r>
                    </a:p>
                  </a:txBody>
                  <a:tcPr marL="45720" marR="45720" anchor="ctr">
                    <a:solidFill>
                      <a:srgbClr val="1B2A4A"/>
                    </a:solidFill>
                  </a:tcPr>
                </a:tc>
                <a:tc>
                  <a:txBody>
                    <a:bodyPr/>
                    <a:lstStyle/>
                    <a:p>
                      <a:pPr algn="ctr"/>
                      <a:r>
                        <a:rPr sz="1100" b="1">
                          <a:solidFill>
                            <a:srgbClr val="FFFFFF"/>
                          </a:solidFill>
                          <a:latin typeface="Calibri"/>
                        </a:rPr>
                        <a:t>Benign</a:t>
                      </a:r>
                    </a:p>
                  </a:txBody>
                  <a:tcPr marL="45720" marR="45720" anchor="ctr">
                    <a:solidFill>
                      <a:srgbClr val="1B2A4A"/>
                    </a:solidFill>
                  </a:tcPr>
                </a:tc>
                <a:tc>
                  <a:txBody>
                    <a:bodyPr/>
                    <a:lstStyle/>
                    <a:p>
                      <a:pPr algn="ctr"/>
                      <a:r>
                        <a:rPr sz="1100" b="1">
                          <a:solidFill>
                            <a:srgbClr val="FFFFFF"/>
                          </a:solidFill>
                          <a:latin typeface="Calibri"/>
                        </a:rPr>
                        <a:t>Botnet</a:t>
                      </a:r>
                    </a:p>
                  </a:txBody>
                  <a:tcPr marL="45720" marR="45720" anchor="ctr">
                    <a:solidFill>
                      <a:srgbClr val="1B2A4A"/>
                    </a:solidFill>
                  </a:tcPr>
                </a:tc>
                <a:tc>
                  <a:txBody>
                    <a:bodyPr/>
                    <a:lstStyle/>
                    <a:p>
                      <a:pPr algn="ctr"/>
                      <a:r>
                        <a:rPr sz="1100" b="1">
                          <a:solidFill>
                            <a:srgbClr val="FFFFFF"/>
                          </a:solidFill>
                          <a:latin typeface="Calibri"/>
                        </a:rPr>
                        <a:t>BruteForce</a:t>
                      </a:r>
                    </a:p>
                  </a:txBody>
                  <a:tcPr marL="45720" marR="45720" anchor="ctr">
                    <a:solidFill>
                      <a:srgbClr val="1B2A4A"/>
                    </a:solidFill>
                  </a:tcPr>
                </a:tc>
                <a:tc>
                  <a:txBody>
                    <a:bodyPr/>
                    <a:lstStyle/>
                    <a:p>
                      <a:pPr algn="ctr"/>
                      <a:r>
                        <a:rPr sz="1100" b="1">
                          <a:solidFill>
                            <a:srgbClr val="FFFFFF"/>
                          </a:solidFill>
                          <a:latin typeface="Calibri"/>
                        </a:rPr>
                        <a:t>DDoS</a:t>
                      </a:r>
                    </a:p>
                  </a:txBody>
                  <a:tcPr marL="45720" marR="45720" anchor="ctr">
                    <a:solidFill>
                      <a:srgbClr val="1B2A4A"/>
                    </a:solidFill>
                  </a:tcPr>
                </a:tc>
                <a:tc>
                  <a:txBody>
                    <a:bodyPr/>
                    <a:lstStyle/>
                    <a:p>
                      <a:pPr algn="ctr"/>
                      <a:r>
                        <a:rPr sz="1100" b="1">
                          <a:solidFill>
                            <a:srgbClr val="FFFFFF"/>
                          </a:solidFill>
                          <a:latin typeface="Calibri"/>
                        </a:rPr>
                        <a:t>DoS</a:t>
                      </a:r>
                    </a:p>
                  </a:txBody>
                  <a:tcPr marL="45720" marR="45720" anchor="ctr">
                    <a:solidFill>
                      <a:srgbClr val="1B2A4A"/>
                    </a:solidFill>
                  </a:tcPr>
                </a:tc>
                <a:tc>
                  <a:txBody>
                    <a:bodyPr/>
                    <a:lstStyle/>
                    <a:p>
                      <a:pPr algn="ctr"/>
                      <a:r>
                        <a:rPr sz="1100" b="1">
                          <a:solidFill>
                            <a:srgbClr val="FFFFFF"/>
                          </a:solidFill>
                          <a:latin typeface="Calibri"/>
                        </a:rPr>
                        <a:t>PortScan</a:t>
                      </a:r>
                    </a:p>
                  </a:txBody>
                  <a:tcPr marL="45720" marR="45720" anchor="ctr">
                    <a:solidFill>
                      <a:srgbClr val="1B2A4A"/>
                    </a:solidFill>
                  </a:tcPr>
                </a:tc>
                <a:tc>
                  <a:txBody>
                    <a:bodyPr/>
                    <a:lstStyle/>
                    <a:p>
                      <a:pPr algn="ctr"/>
                      <a:r>
                        <a:rPr sz="1100" b="1">
                          <a:solidFill>
                            <a:srgbClr val="FFFFFF"/>
                          </a:solidFill>
                          <a:latin typeface="Calibri"/>
                        </a:rPr>
                        <a:t>WebAttack</a:t>
                      </a:r>
                    </a:p>
                  </a:txBody>
                  <a:tcPr marL="45720" marR="45720" anchor="ctr">
                    <a:solidFill>
                      <a:srgbClr val="1B2A4A"/>
                    </a:solidFill>
                  </a:tcPr>
                </a:tc>
              </a:tr>
              <a:tr h="444137">
                <a:tc>
                  <a:txBody>
                    <a:bodyPr/>
                    <a:lstStyle/>
                    <a:p>
                      <a:pPr algn="l"/>
                      <a:r>
                        <a:rPr sz="1200" b="1">
                          <a:solidFill>
                            <a:srgbClr val="1B2A4A"/>
                          </a:solidFill>
                          <a:latin typeface="Calibri"/>
                        </a:rPr>
                        <a:t>Logistic Reg.</a:t>
                      </a:r>
                    </a:p>
                  </a:txBody>
                  <a:tcPr marL="45720" marR="45720" anchor="ctr">
                    <a:solidFill>
                      <a:srgbClr val="FFFFFF"/>
                    </a:solidFill>
                  </a:tcPr>
                </a:tc>
                <a:tc>
                  <a:txBody>
                    <a:bodyPr/>
                    <a:lstStyle/>
                    <a:p>
                      <a:pPr algn="ctr"/>
                      <a:r>
                        <a:rPr sz="1200" b="0">
                          <a:solidFill>
                            <a:srgbClr val="1B2A4A"/>
                          </a:solidFill>
                          <a:latin typeface="Calibri"/>
                        </a:rPr>
                        <a:t>0.999</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0.995</a:t>
                      </a:r>
                    </a:p>
                  </a:txBody>
                  <a:tcPr marL="45720" marR="45720" anchor="ctr">
                    <a:solidFill>
                      <a:srgbClr val="E4EAF6"/>
                    </a:solidFill>
                  </a:tcPr>
                </a:tc>
                <a:tc>
                  <a:txBody>
                    <a:bodyPr/>
                    <a:lstStyle/>
                    <a:p>
                      <a:pPr algn="ctr"/>
                      <a:r>
                        <a:rPr sz="1200" b="0">
                          <a:solidFill>
                            <a:srgbClr val="1B2A4A"/>
                          </a:solidFill>
                          <a:latin typeface="Calibri"/>
                        </a:rPr>
                        <a:t>0.999</a:t>
                      </a:r>
                    </a:p>
                  </a:txBody>
                  <a:tcPr marL="45720" marR="45720" anchor="ctr">
                    <a:solidFill>
                      <a:srgbClr val="E4EAF6"/>
                    </a:solidFill>
                  </a:tcPr>
                </a:tc>
                <a:tc>
                  <a:txBody>
                    <a:bodyPr/>
                    <a:lstStyle/>
                    <a:p>
                      <a:pPr algn="ctr"/>
                      <a:r>
                        <a:rPr sz="1200" b="0">
                          <a:solidFill>
                            <a:srgbClr val="1B2A4A"/>
                          </a:solidFill>
                          <a:latin typeface="Calibri"/>
                        </a:rPr>
                        <a:t>0.997</a:t>
                      </a:r>
                    </a:p>
                  </a:txBody>
                  <a:tcPr marL="45720" marR="45720" anchor="ctr">
                    <a:solidFill>
                      <a:srgbClr val="E4EAF6"/>
                    </a:solidFill>
                  </a:tcPr>
                </a:tc>
                <a:tc>
                  <a:txBody>
                    <a:bodyPr/>
                    <a:lstStyle/>
                    <a:p>
                      <a:pPr algn="ctr"/>
                      <a:r>
                        <a:rPr sz="1200" b="0">
                          <a:solidFill>
                            <a:srgbClr val="1B2A4A"/>
                          </a:solidFill>
                          <a:latin typeface="Calibri"/>
                        </a:rPr>
                        <a:t>0.741</a:t>
                      </a:r>
                    </a:p>
                  </a:txBody>
                  <a:tcPr marL="45720" marR="45720" anchor="ctr">
                    <a:solidFill>
                      <a:srgbClr val="F2A93B"/>
                    </a:solidFill>
                  </a:tcPr>
                </a:tc>
                <a:tc>
                  <a:txBody>
                    <a:bodyPr/>
                    <a:lstStyle/>
                    <a:p>
                      <a:pPr algn="ctr"/>
                      <a:r>
                        <a:rPr sz="1200" b="1">
                          <a:solidFill>
                            <a:srgbClr val="FFFFFF"/>
                          </a:solidFill>
                          <a:latin typeface="Calibri"/>
                        </a:rPr>
                        <a:t>0.455</a:t>
                      </a:r>
                    </a:p>
                  </a:txBody>
                  <a:tcPr marL="45720" marR="45720" anchor="ctr">
                    <a:solidFill>
                      <a:srgbClr val="C0392B"/>
                    </a:solidFill>
                  </a:tcPr>
                </a:tc>
              </a:tr>
              <a:tr h="444137">
                <a:tc>
                  <a:txBody>
                    <a:bodyPr/>
                    <a:lstStyle/>
                    <a:p>
                      <a:pPr algn="l"/>
                      <a:r>
                        <a:rPr sz="1200" b="1">
                          <a:solidFill>
                            <a:srgbClr val="1B2A4A"/>
                          </a:solidFill>
                          <a:latin typeface="Calibri"/>
                        </a:rPr>
                        <a:t>RBF-SVM</a:t>
                      </a:r>
                    </a:p>
                  </a:txBody>
                  <a:tcPr marL="45720" marR="45720" anchor="ctr">
                    <a:solidFill>
                      <a:srgbClr val="FFFFFF"/>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0.997</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F2937"/>
                          </a:solidFill>
                          <a:latin typeface="Calibri"/>
                        </a:rPr>
                        <a:t>0.982</a:t>
                      </a:r>
                    </a:p>
                  </a:txBody>
                  <a:tcPr marL="45720" marR="45720" anchor="ctr">
                    <a:solidFill>
                      <a:srgbClr val="FCE7C3"/>
                    </a:solidFill>
                  </a:tcPr>
                </a:tc>
                <a:tc>
                  <a:txBody>
                    <a:bodyPr/>
                    <a:lstStyle/>
                    <a:p>
                      <a:pPr algn="ctr"/>
                      <a:r>
                        <a:rPr sz="1200" b="0">
                          <a:solidFill>
                            <a:srgbClr val="1F2937"/>
                          </a:solidFill>
                          <a:latin typeface="Calibri"/>
                        </a:rPr>
                        <a:t>0.966</a:t>
                      </a:r>
                    </a:p>
                  </a:txBody>
                  <a:tcPr marL="45720" marR="45720" anchor="ctr">
                    <a:solidFill>
                      <a:srgbClr val="FCE7C3"/>
                    </a:solidFill>
                  </a:tcPr>
                </a:tc>
                <a:tc>
                  <a:txBody>
                    <a:bodyPr/>
                    <a:lstStyle/>
                    <a:p>
                      <a:pPr algn="ctr"/>
                      <a:r>
                        <a:rPr sz="1200" b="1">
                          <a:solidFill>
                            <a:srgbClr val="FFFFFF"/>
                          </a:solidFill>
                          <a:latin typeface="Calibri"/>
                        </a:rPr>
                        <a:t>0.455</a:t>
                      </a:r>
                    </a:p>
                  </a:txBody>
                  <a:tcPr marL="45720" marR="45720" anchor="ctr">
                    <a:solidFill>
                      <a:srgbClr val="C0392B"/>
                    </a:solidFill>
                  </a:tcPr>
                </a:tc>
              </a:tr>
              <a:tr h="444137">
                <a:tc>
                  <a:txBody>
                    <a:bodyPr/>
                    <a:lstStyle/>
                    <a:p>
                      <a:pPr algn="l"/>
                      <a:r>
                        <a:rPr sz="1200" b="1">
                          <a:solidFill>
                            <a:srgbClr val="1B2A4A"/>
                          </a:solidFill>
                          <a:latin typeface="Calibri"/>
                        </a:rPr>
                        <a:t>MLP</a:t>
                      </a:r>
                    </a:p>
                  </a:txBody>
                  <a:tcPr marL="45720" marR="45720" anchor="ctr">
                    <a:solidFill>
                      <a:srgbClr val="FFFFFF"/>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0.996</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F2937"/>
                          </a:solidFill>
                          <a:latin typeface="Calibri"/>
                        </a:rPr>
                        <a:t>0.982</a:t>
                      </a:r>
                    </a:p>
                  </a:txBody>
                  <a:tcPr marL="45720" marR="45720" anchor="ctr">
                    <a:solidFill>
                      <a:srgbClr val="FCE7C3"/>
                    </a:solidFill>
                  </a:tcPr>
                </a:tc>
                <a:tc>
                  <a:txBody>
                    <a:bodyPr/>
                    <a:lstStyle/>
                    <a:p>
                      <a:pPr algn="ctr"/>
                      <a:r>
                        <a:rPr sz="1200" b="0">
                          <a:solidFill>
                            <a:srgbClr val="1F2937"/>
                          </a:solidFill>
                          <a:latin typeface="Calibri"/>
                        </a:rPr>
                        <a:t>0.966</a:t>
                      </a:r>
                    </a:p>
                  </a:txBody>
                  <a:tcPr marL="45720" marR="45720" anchor="ctr">
                    <a:solidFill>
                      <a:srgbClr val="FCE7C3"/>
                    </a:solidFill>
                  </a:tcPr>
                </a:tc>
                <a:tc>
                  <a:txBody>
                    <a:bodyPr/>
                    <a:lstStyle/>
                    <a:p>
                      <a:pPr algn="ctr"/>
                      <a:r>
                        <a:rPr sz="1200" b="1">
                          <a:solidFill>
                            <a:srgbClr val="FFFFFF"/>
                          </a:solidFill>
                          <a:latin typeface="Calibri"/>
                        </a:rPr>
                        <a:t>0.455</a:t>
                      </a:r>
                    </a:p>
                  </a:txBody>
                  <a:tcPr marL="45720" marR="45720" anchor="ctr">
                    <a:solidFill>
                      <a:srgbClr val="C0392B"/>
                    </a:solidFill>
                  </a:tcPr>
                </a:tc>
              </a:tr>
              <a:tr h="444137">
                <a:tc>
                  <a:txBody>
                    <a:bodyPr/>
                    <a:lstStyle/>
                    <a:p>
                      <a:pPr algn="l"/>
                      <a:r>
                        <a:rPr sz="1200" b="1">
                          <a:solidFill>
                            <a:srgbClr val="1B2A4A"/>
                          </a:solidFill>
                          <a:latin typeface="Calibri"/>
                        </a:rPr>
                        <a:t>Random Forest</a:t>
                      </a:r>
                    </a:p>
                  </a:txBody>
                  <a:tcPr marL="45720" marR="45720" anchor="ctr">
                    <a:solidFill>
                      <a:srgbClr val="FFFFFF"/>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0.998</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F2937"/>
                          </a:solidFill>
                          <a:latin typeface="Calibri"/>
                        </a:rPr>
                        <a:t>0.982</a:t>
                      </a:r>
                    </a:p>
                  </a:txBody>
                  <a:tcPr marL="45720" marR="45720" anchor="ctr">
                    <a:solidFill>
                      <a:srgbClr val="FCE7C3"/>
                    </a:solidFill>
                  </a:tcPr>
                </a:tc>
                <a:tc>
                  <a:txBody>
                    <a:bodyPr/>
                    <a:lstStyle/>
                    <a:p>
                      <a:pPr algn="ctr"/>
                      <a:r>
                        <a:rPr sz="1200" b="0">
                          <a:solidFill>
                            <a:srgbClr val="1F2937"/>
                          </a:solidFill>
                          <a:latin typeface="Calibri"/>
                        </a:rPr>
                        <a:t>0.983</a:t>
                      </a:r>
                    </a:p>
                  </a:txBody>
                  <a:tcPr marL="45720" marR="45720" anchor="ctr">
                    <a:solidFill>
                      <a:srgbClr val="FCE7C3"/>
                    </a:solidFill>
                  </a:tcPr>
                </a:tc>
                <a:tc>
                  <a:txBody>
                    <a:bodyPr/>
                    <a:lstStyle/>
                    <a:p>
                      <a:pPr algn="ctr"/>
                      <a:r>
                        <a:rPr sz="1200" b="1">
                          <a:solidFill>
                            <a:srgbClr val="FFFFFF"/>
                          </a:solidFill>
                          <a:latin typeface="Calibri"/>
                        </a:rPr>
                        <a:t>0.455</a:t>
                      </a:r>
                    </a:p>
                  </a:txBody>
                  <a:tcPr marL="45720" marR="45720" anchor="ctr">
                    <a:solidFill>
                      <a:srgbClr val="C0392B"/>
                    </a:solidFill>
                  </a:tcPr>
                </a:tc>
              </a:tr>
              <a:tr h="444137">
                <a:tc>
                  <a:txBody>
                    <a:bodyPr/>
                    <a:lstStyle/>
                    <a:p>
                      <a:pPr algn="l"/>
                      <a:r>
                        <a:rPr sz="1200" b="1">
                          <a:solidFill>
                            <a:srgbClr val="1B2A4A"/>
                          </a:solidFill>
                          <a:latin typeface="Calibri"/>
                        </a:rPr>
                        <a:t>XGBoost</a:t>
                      </a:r>
                    </a:p>
                  </a:txBody>
                  <a:tcPr marL="45720" marR="45720" anchor="ctr">
                    <a:solidFill>
                      <a:srgbClr val="FFFFFF"/>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0.998</a:t>
                      </a:r>
                    </a:p>
                  </a:txBody>
                  <a:tcPr marL="45720" marR="45720" anchor="ctr">
                    <a:solidFill>
                      <a:srgbClr val="E4EAF6"/>
                    </a:solidFill>
                  </a:tcPr>
                </a:tc>
                <a:tc>
                  <a:txBody>
                    <a:bodyPr/>
                    <a:lstStyle/>
                    <a:p>
                      <a:pPr algn="ctr"/>
                      <a:r>
                        <a:rPr sz="1200" b="0">
                          <a:solidFill>
                            <a:srgbClr val="1B2A4A"/>
                          </a:solidFill>
                          <a:latin typeface="Calibri"/>
                        </a:rPr>
                        <a:t>1.000</a:t>
                      </a:r>
                    </a:p>
                  </a:txBody>
                  <a:tcPr marL="45720" marR="45720" anchor="ctr">
                    <a:solidFill>
                      <a:srgbClr val="E4EAF6"/>
                    </a:solidFill>
                  </a:tcPr>
                </a:tc>
                <a:tc>
                  <a:txBody>
                    <a:bodyPr/>
                    <a:lstStyle/>
                    <a:p>
                      <a:pPr algn="ctr"/>
                      <a:r>
                        <a:rPr sz="1200" b="0">
                          <a:solidFill>
                            <a:srgbClr val="1B2A4A"/>
                          </a:solidFill>
                          <a:latin typeface="Calibri"/>
                        </a:rPr>
                        <a:t>0.997</a:t>
                      </a:r>
                    </a:p>
                  </a:txBody>
                  <a:tcPr marL="45720" marR="45720" anchor="ctr">
                    <a:solidFill>
                      <a:srgbClr val="E4EAF6"/>
                    </a:solidFill>
                  </a:tcPr>
                </a:tc>
                <a:tc>
                  <a:txBody>
                    <a:bodyPr/>
                    <a:lstStyle/>
                    <a:p>
                      <a:pPr algn="ctr"/>
                      <a:r>
                        <a:rPr sz="1200" b="0">
                          <a:solidFill>
                            <a:srgbClr val="1F2937"/>
                          </a:solidFill>
                          <a:latin typeface="Calibri"/>
                        </a:rPr>
                        <a:t>0.983</a:t>
                      </a:r>
                    </a:p>
                  </a:txBody>
                  <a:tcPr marL="45720" marR="45720" anchor="ctr">
                    <a:solidFill>
                      <a:srgbClr val="FCE7C3"/>
                    </a:solidFill>
                  </a:tcPr>
                </a:tc>
                <a:tc>
                  <a:txBody>
                    <a:bodyPr/>
                    <a:lstStyle/>
                    <a:p>
                      <a:pPr algn="ctr"/>
                      <a:r>
                        <a:rPr sz="1200" b="1">
                          <a:solidFill>
                            <a:srgbClr val="FFFFFF"/>
                          </a:solidFill>
                          <a:latin typeface="Calibri"/>
                        </a:rPr>
                        <a:t>0.455</a:t>
                      </a:r>
                    </a:p>
                  </a:txBody>
                  <a:tcPr marL="45720" marR="45720" anchor="ctr">
                    <a:solidFill>
                      <a:srgbClr val="C0392B"/>
                    </a:solidFill>
                  </a:tcPr>
                </a:tc>
              </a:tr>
              <a:tr h="444138">
                <a:tc>
                  <a:txBody>
                    <a:bodyPr/>
                    <a:lstStyle/>
                    <a:p>
                      <a:pPr algn="l"/>
                      <a:r>
                        <a:rPr sz="1100" b="0">
                          <a:solidFill>
                            <a:srgbClr val="5B6B82"/>
                          </a:solidFill>
                          <a:latin typeface="Calibri"/>
                        </a:rPr>
                        <a:t>Test flows</a:t>
                      </a:r>
                    </a:p>
                  </a:txBody>
                  <a:tcPr marL="45720" marR="45720" anchor="ctr">
                    <a:solidFill>
                      <a:srgbClr val="FFFFFF"/>
                    </a:solidFill>
                  </a:tcPr>
                </a:tc>
                <a:tc>
                  <a:txBody>
                    <a:bodyPr/>
                    <a:lstStyle/>
                    <a:p>
                      <a:pPr algn="ctr"/>
                      <a:r>
                        <a:rPr sz="1100" b="0">
                          <a:solidFill>
                            <a:srgbClr val="5B6B82"/>
                          </a:solidFill>
                          <a:latin typeface="Calibri"/>
                        </a:rPr>
                        <a:t>121,112</a:t>
                      </a:r>
                    </a:p>
                  </a:txBody>
                  <a:tcPr marL="45720" marR="45720" anchor="ctr">
                    <a:solidFill>
                      <a:srgbClr val="FFFFFF"/>
                    </a:solidFill>
                  </a:tcPr>
                </a:tc>
                <a:tc>
                  <a:txBody>
                    <a:bodyPr/>
                    <a:lstStyle/>
                    <a:p>
                      <a:pPr algn="ctr"/>
                      <a:r>
                        <a:rPr sz="1100" b="0">
                          <a:solidFill>
                            <a:srgbClr val="5B6B82"/>
                          </a:solidFill>
                          <a:latin typeface="Calibri"/>
                        </a:rPr>
                        <a:t>162</a:t>
                      </a:r>
                    </a:p>
                  </a:txBody>
                  <a:tcPr marL="45720" marR="45720" anchor="ctr">
                    <a:solidFill>
                      <a:srgbClr val="FFFFFF"/>
                    </a:solidFill>
                  </a:tcPr>
                </a:tc>
                <a:tc>
                  <a:txBody>
                    <a:bodyPr/>
                    <a:lstStyle/>
                    <a:p>
                      <a:pPr algn="ctr"/>
                      <a:r>
                        <a:rPr sz="1100" b="0">
                          <a:solidFill>
                            <a:srgbClr val="5B6B82"/>
                          </a:solidFill>
                          <a:latin typeface="Calibri"/>
                        </a:rPr>
                        <a:t>1,982</a:t>
                      </a:r>
                    </a:p>
                  </a:txBody>
                  <a:tcPr marL="45720" marR="45720" anchor="ctr">
                    <a:solidFill>
                      <a:srgbClr val="FFFFFF"/>
                    </a:solidFill>
                  </a:tcPr>
                </a:tc>
                <a:tc>
                  <a:txBody>
                    <a:bodyPr/>
                    <a:lstStyle/>
                    <a:p>
                      <a:pPr algn="ctr"/>
                      <a:r>
                        <a:rPr sz="1100" b="0">
                          <a:solidFill>
                            <a:srgbClr val="5B6B82"/>
                          </a:solidFill>
                          <a:latin typeface="Calibri"/>
                        </a:rPr>
                        <a:t>46,293</a:t>
                      </a:r>
                    </a:p>
                  </a:txBody>
                  <a:tcPr marL="45720" marR="45720" anchor="ctr">
                    <a:solidFill>
                      <a:srgbClr val="FFFFFF"/>
                    </a:solidFill>
                  </a:tcPr>
                </a:tc>
                <a:tc>
                  <a:txBody>
                    <a:bodyPr/>
                    <a:lstStyle/>
                    <a:p>
                      <a:pPr algn="ctr"/>
                      <a:r>
                        <a:rPr sz="1100" b="0">
                          <a:solidFill>
                            <a:srgbClr val="5B6B82"/>
                          </a:solidFill>
                          <a:latin typeface="Calibri"/>
                        </a:rPr>
                        <a:t>8,847</a:t>
                      </a:r>
                    </a:p>
                  </a:txBody>
                  <a:tcPr marL="45720" marR="45720" anchor="ctr">
                    <a:solidFill>
                      <a:srgbClr val="FFFFFF"/>
                    </a:solidFill>
                  </a:tcPr>
                </a:tc>
                <a:tc>
                  <a:txBody>
                    <a:bodyPr/>
                    <a:lstStyle/>
                    <a:p>
                      <a:pPr algn="ctr"/>
                      <a:r>
                        <a:rPr sz="1100" b="0">
                          <a:solidFill>
                            <a:srgbClr val="5B6B82"/>
                          </a:solidFill>
                          <a:latin typeface="Calibri"/>
                        </a:rPr>
                        <a:t>58</a:t>
                      </a:r>
                    </a:p>
                  </a:txBody>
                  <a:tcPr marL="45720" marR="45720" anchor="ctr">
                    <a:solidFill>
                      <a:srgbClr val="FFFFFF"/>
                    </a:solidFill>
                  </a:tcPr>
                </a:tc>
                <a:tc>
                  <a:txBody>
                    <a:bodyPr/>
                    <a:lstStyle/>
                    <a:p>
                      <a:pPr algn="ctr"/>
                      <a:r>
                        <a:rPr sz="1100" b="0">
                          <a:solidFill>
                            <a:srgbClr val="5B6B82"/>
                          </a:solidFill>
                          <a:latin typeface="Calibri"/>
                        </a:rPr>
                        <a:t>22</a:t>
                      </a:r>
                    </a:p>
                  </a:txBody>
                  <a:tcPr marL="45720" marR="45720" anchor="ctr">
                    <a:solidFill>
                      <a:srgbClr val="FFFFFF"/>
                    </a:solidFill>
                  </a:tcPr>
                </a:tc>
              </a:tr>
            </a:tbl>
          </a:graphicData>
        </a:graphic>
      </p:graphicFrame>
      <p:sp>
        <p:nvSpPr>
          <p:cNvPr id="6" name="Rounded Rectangle 5"/>
          <p:cNvSpPr/>
          <p:nvPr/>
        </p:nvSpPr>
        <p:spPr>
          <a:xfrm>
            <a:off x="8229600" y="1783080"/>
            <a:ext cx="3410712" cy="2103120"/>
          </a:xfrm>
          <a:prstGeom prst="roundRect">
            <a:avLst>
              <a:gd name="adj" fmla="val 6000"/>
            </a:avLst>
          </a:prstGeom>
          <a:solidFill>
            <a:srgbClr val="FCE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965960"/>
            <a:ext cx="2953512" cy="173736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Unseen variant → missed</a:t>
            </a:r>
          </a:p>
          <a:p>
            <a:pPr algn="l">
              <a:spcAft>
                <a:spcPts val="400"/>
              </a:spcAft>
            </a:pPr>
            <a:r>
              <a:rPr sz="1300" b="0" i="0">
                <a:solidFill>
                  <a:srgbClr val="1F2937"/>
                </a:solidFill>
                <a:latin typeface="Calibri"/>
              </a:rPr>
              <a:t>The time-block split put 12 of 13 SQL-injection flows in test. Every model missed all 12 (called benign or DoS); web brute force was caught 10/10.</a:t>
            </a:r>
          </a:p>
        </p:txBody>
      </p:sp>
      <p:sp>
        <p:nvSpPr>
          <p:cNvPr id="8" name="Rounded Rectangle 7"/>
          <p:cNvSpPr/>
          <p:nvPr/>
        </p:nvSpPr>
        <p:spPr>
          <a:xfrm>
            <a:off x="8229600" y="4023360"/>
            <a:ext cx="3410712" cy="210312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206240"/>
            <a:ext cx="2953512" cy="173736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Rebalancing does not help</a:t>
            </a:r>
          </a:p>
          <a:p>
            <a:pPr algn="l">
              <a:spcAft>
                <a:spcPts val="400"/>
              </a:spcAft>
            </a:pPr>
            <a:r>
              <a:rPr sz="1300" b="0" i="0">
                <a:solidFill>
                  <a:srgbClr val="1F2937"/>
                </a:solidFill>
                <a:latin typeface="Calibri"/>
              </a:rPr>
              <a:t>SMOTE gives no significant gain. Class weights hurt linear models: Logistic Regression macro-F1 0.98 → 0.79, benign FPR 0.12% → 2.3%.</a:t>
            </a:r>
          </a:p>
        </p:txBody>
      </p:sp>
      <p:sp>
        <p:nvSpPr>
          <p:cNvPr id="10" name="TextBox 9"/>
          <p:cNvSpPr txBox="1"/>
          <p:nvPr/>
        </p:nvSpPr>
        <p:spPr>
          <a:xfrm>
            <a:off x="548640" y="5074920"/>
            <a:ext cx="7315200" cy="822960"/>
          </a:xfrm>
          <a:prstGeom prst="rect">
            <a:avLst/>
          </a:prstGeom>
          <a:noFill/>
        </p:spPr>
        <p:txBody>
          <a:bodyPr wrap="square" lIns="0" rIns="0" tIns="0" bIns="0" anchor="t">
            <a:spAutoFit/>
          </a:bodyPr>
          <a:lstStyle/>
          <a:p>
            <a:pPr algn="l">
              <a:spcAft>
                <a:spcPts val="0"/>
              </a:spcAft>
            </a:pPr>
            <a:r>
              <a:rPr sz="1200" b="0" i="1">
                <a:solidFill>
                  <a:srgbClr val="5B6B82"/>
                </a:solidFill>
                <a:latin typeface="Calibri"/>
              </a:rPr>
              <a:t>Cell colour: ≥ 0.99 blue, 0.90–0.99 light amber, 0.70–0.90 amber, &lt; 0.70 red. Hypothesis H2 (low rare-class recall before SMOTE) is not supported on the corrected, de-duplicated data.</a:t>
            </a:r>
          </a:p>
        </p:txBody>
      </p:sp>
      <p:sp>
        <p:nvSpPr>
          <p:cNvPr id="11" name="TextBox 10"/>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2" name="TextBox 11"/>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Deployability</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Cost of classifying one flow, measured single-threaded on an Apple M1 (8 GB)</a:t>
            </a:r>
          </a:p>
        </p:txBody>
      </p:sp>
      <p:graphicFrame>
        <p:nvGraphicFramePr>
          <p:cNvPr id="5" name="Chart 4"/>
          <p:cNvGraphicFramePr>
            <a:graphicFrameLocks noGrp="1"/>
          </p:cNvGraphicFramePr>
          <p:nvPr/>
        </p:nvGraphicFramePr>
        <p:xfrm>
          <a:off x="548640" y="1691640"/>
          <a:ext cx="5943600" cy="4526280"/>
        </p:xfrm>
        <a:graphic>
          <a:graphicData uri="http://schemas.openxmlformats.org/drawingml/2006/chart">
            <c:chart xmlns:c="http://schemas.openxmlformats.org/drawingml/2006/chart" r:id="rId2"/>
          </a:graphicData>
        </a:graphic>
      </p:graphicFrame>
      <p:graphicFrame>
        <p:nvGraphicFramePr>
          <p:cNvPr id="6" name="deployability table"/>
          <p:cNvGraphicFramePr>
            <a:graphicFrameLocks noGrp="1"/>
          </p:cNvGraphicFramePr>
          <p:nvPr/>
        </p:nvGraphicFramePr>
        <p:xfrm>
          <a:off x="6812280" y="1783080"/>
          <a:ext cx="4828032" cy="2651760"/>
        </p:xfrm>
        <a:graphic>
          <a:graphicData uri="http://schemas.openxmlformats.org/drawingml/2006/table">
            <a:tbl>
              <a:tblPr firstRow="1">
                <a:tableStyleId>{5C22544A-7EE6-4342-B048-85BDC9FD1C3A}</a:tableStyleId>
              </a:tblPr>
              <a:tblGrid>
                <a:gridCol w="1600200"/>
                <a:gridCol w="1005840"/>
                <a:gridCol w="1005840"/>
                <a:gridCol w="1216152"/>
              </a:tblGrid>
              <a:tr h="441960">
                <a:tc>
                  <a:txBody>
                    <a:bodyPr/>
                    <a:lstStyle/>
                    <a:p>
                      <a:pPr algn="l"/>
                      <a:r>
                        <a:rPr sz="1200" b="1">
                          <a:solidFill>
                            <a:srgbClr val="FFFFFF"/>
                          </a:solidFill>
                          <a:latin typeface="Calibri"/>
                        </a:rPr>
                        <a:t>Model</a:t>
                      </a:r>
                    </a:p>
                  </a:txBody>
                  <a:tcPr marL="45720" marR="45720" anchor="ctr">
                    <a:solidFill>
                      <a:srgbClr val="1B2A4A"/>
                    </a:solidFill>
                  </a:tcPr>
                </a:tc>
                <a:tc>
                  <a:txBody>
                    <a:bodyPr/>
                    <a:lstStyle/>
                    <a:p>
                      <a:pPr algn="r"/>
                      <a:r>
                        <a:rPr sz="1200" b="1">
                          <a:solidFill>
                            <a:srgbClr val="FFFFFF"/>
                          </a:solidFill>
                          <a:latin typeface="Calibri"/>
                        </a:rPr>
                        <a:t>Size</a:t>
                      </a:r>
                    </a:p>
                  </a:txBody>
                  <a:tcPr marL="45720" marR="45720" anchor="ctr">
                    <a:solidFill>
                      <a:srgbClr val="1B2A4A"/>
                    </a:solidFill>
                  </a:tcPr>
                </a:tc>
                <a:tc>
                  <a:txBody>
                    <a:bodyPr/>
                    <a:lstStyle/>
                    <a:p>
                      <a:pPr algn="r"/>
                      <a:r>
                        <a:rPr sz="1200" b="1">
                          <a:solidFill>
                            <a:srgbClr val="FFFFFF"/>
                          </a:solidFill>
                          <a:latin typeface="Calibri"/>
                        </a:rPr>
                        <a:t>Train</a:t>
                      </a:r>
                    </a:p>
                  </a:txBody>
                  <a:tcPr marL="45720" marR="45720" anchor="ctr">
                    <a:solidFill>
                      <a:srgbClr val="1B2A4A"/>
                    </a:solidFill>
                  </a:tcPr>
                </a:tc>
                <a:tc>
                  <a:txBody>
                    <a:bodyPr/>
                    <a:lstStyle/>
                    <a:p>
                      <a:pPr algn="r"/>
                      <a:r>
                        <a:rPr sz="1200" b="1">
                          <a:solidFill>
                            <a:srgbClr val="FFFFFF"/>
                          </a:solidFill>
                          <a:latin typeface="Calibri"/>
                        </a:rPr>
                        <a:t>Flows / s</a:t>
                      </a:r>
                    </a:p>
                  </a:txBody>
                  <a:tcPr marL="45720" marR="45720" anchor="ctr">
                    <a:solidFill>
                      <a:srgbClr val="1B2A4A"/>
                    </a:solidFill>
                  </a:tcPr>
                </a:tc>
              </a:tr>
              <a:tr h="441960">
                <a:tc>
                  <a:txBody>
                    <a:bodyPr/>
                    <a:lstStyle/>
                    <a:p>
                      <a:pPr algn="l"/>
                      <a:r>
                        <a:rPr sz="1200" b="1">
                          <a:solidFill>
                            <a:srgbClr val="1B2A4A"/>
                          </a:solidFill>
                          <a:latin typeface="Calibri"/>
                        </a:rPr>
                        <a:t>Logistic Reg.</a:t>
                      </a:r>
                    </a:p>
                  </a:txBody>
                  <a:tcPr marL="45720" marR="45720" anchor="ctr">
                    <a:solidFill>
                      <a:srgbClr val="FFFFFF"/>
                    </a:solidFill>
                  </a:tcPr>
                </a:tc>
                <a:tc>
                  <a:txBody>
                    <a:bodyPr/>
                    <a:lstStyle/>
                    <a:p>
                      <a:pPr algn="r"/>
                      <a:r>
                        <a:rPr sz="1200" b="0">
                          <a:solidFill>
                            <a:srgbClr val="1F2937"/>
                          </a:solidFill>
                          <a:latin typeface="Calibri"/>
                        </a:rPr>
                        <a:t>3 KB</a:t>
                      </a:r>
                    </a:p>
                  </a:txBody>
                  <a:tcPr marL="45720" marR="45720" anchor="ctr">
                    <a:solidFill>
                      <a:srgbClr val="FFFFFF"/>
                    </a:solidFill>
                  </a:tcPr>
                </a:tc>
                <a:tc>
                  <a:txBody>
                    <a:bodyPr/>
                    <a:lstStyle/>
                    <a:p>
                      <a:pPr algn="r"/>
                      <a:r>
                        <a:rPr sz="1200" b="0">
                          <a:solidFill>
                            <a:srgbClr val="1F2937"/>
                          </a:solidFill>
                          <a:latin typeface="Calibri"/>
                        </a:rPr>
                        <a:t>14 s</a:t>
                      </a:r>
                    </a:p>
                  </a:txBody>
                  <a:tcPr marL="45720" marR="45720" anchor="ctr">
                    <a:solidFill>
                      <a:srgbClr val="FFFFFF"/>
                    </a:solidFill>
                  </a:tcPr>
                </a:tc>
                <a:tc>
                  <a:txBody>
                    <a:bodyPr/>
                    <a:lstStyle/>
                    <a:p>
                      <a:pPr algn="r"/>
                      <a:r>
                        <a:rPr sz="1200" b="0">
                          <a:solidFill>
                            <a:srgbClr val="1F2937"/>
                          </a:solidFill>
                          <a:latin typeface="Calibri"/>
                        </a:rPr>
                        <a:t>3,534k</a:t>
                      </a:r>
                    </a:p>
                  </a:txBody>
                  <a:tcPr marL="45720" marR="45720" anchor="ctr">
                    <a:solidFill>
                      <a:srgbClr val="FFFFFF"/>
                    </a:solidFill>
                  </a:tcPr>
                </a:tc>
              </a:tr>
              <a:tr h="441960">
                <a:tc>
                  <a:txBody>
                    <a:bodyPr/>
                    <a:lstStyle/>
                    <a:p>
                      <a:pPr algn="l"/>
                      <a:r>
                        <a:rPr sz="1200" b="1">
                          <a:solidFill>
                            <a:srgbClr val="1B2A4A"/>
                          </a:solidFill>
                          <a:latin typeface="Calibri"/>
                        </a:rPr>
                        <a:t>RBF-SVM</a:t>
                      </a:r>
                    </a:p>
                  </a:txBody>
                  <a:tcPr marL="45720" marR="45720" anchor="ctr">
                    <a:solidFill>
                      <a:srgbClr val="FFFFFF"/>
                    </a:solidFill>
                  </a:tcPr>
                </a:tc>
                <a:tc>
                  <a:txBody>
                    <a:bodyPr/>
                    <a:lstStyle/>
                    <a:p>
                      <a:pPr algn="r"/>
                      <a:r>
                        <a:rPr sz="1200" b="0">
                          <a:solidFill>
                            <a:srgbClr val="1F2937"/>
                          </a:solidFill>
                          <a:latin typeface="Calibri"/>
                        </a:rPr>
                        <a:t>106 KB</a:t>
                      </a:r>
                    </a:p>
                  </a:txBody>
                  <a:tcPr marL="45720" marR="45720" anchor="ctr">
                    <a:solidFill>
                      <a:srgbClr val="FFFFFF"/>
                    </a:solidFill>
                  </a:tcPr>
                </a:tc>
                <a:tc>
                  <a:txBody>
                    <a:bodyPr/>
                    <a:lstStyle/>
                    <a:p>
                      <a:pPr algn="r"/>
                      <a:r>
                        <a:rPr sz="1200" b="0">
                          <a:solidFill>
                            <a:srgbClr val="1F2937"/>
                          </a:solidFill>
                          <a:latin typeface="Calibri"/>
                        </a:rPr>
                        <a:t>1 s</a:t>
                      </a:r>
                    </a:p>
                  </a:txBody>
                  <a:tcPr marL="45720" marR="45720" anchor="ctr">
                    <a:solidFill>
                      <a:srgbClr val="FFFFFF"/>
                    </a:solidFill>
                  </a:tcPr>
                </a:tc>
                <a:tc>
                  <a:txBody>
                    <a:bodyPr/>
                    <a:lstStyle/>
                    <a:p>
                      <a:pPr algn="r"/>
                      <a:r>
                        <a:rPr sz="1200" b="0">
                          <a:solidFill>
                            <a:srgbClr val="1F2937"/>
                          </a:solidFill>
                          <a:latin typeface="Calibri"/>
                        </a:rPr>
                        <a:t>23k</a:t>
                      </a:r>
                    </a:p>
                  </a:txBody>
                  <a:tcPr marL="45720" marR="45720" anchor="ctr">
                    <a:solidFill>
                      <a:srgbClr val="FFFFFF"/>
                    </a:solidFill>
                  </a:tcPr>
                </a:tc>
              </a:tr>
              <a:tr h="441960">
                <a:tc>
                  <a:txBody>
                    <a:bodyPr/>
                    <a:lstStyle/>
                    <a:p>
                      <a:pPr algn="l"/>
                      <a:r>
                        <a:rPr sz="1200" b="1">
                          <a:solidFill>
                            <a:srgbClr val="1B2A4A"/>
                          </a:solidFill>
                          <a:latin typeface="Calibri"/>
                        </a:rPr>
                        <a:t>MLP</a:t>
                      </a:r>
                    </a:p>
                  </a:txBody>
                  <a:tcPr marL="45720" marR="45720" anchor="ctr">
                    <a:solidFill>
                      <a:srgbClr val="FFFFFF"/>
                    </a:solidFill>
                  </a:tcPr>
                </a:tc>
                <a:tc>
                  <a:txBody>
                    <a:bodyPr/>
                    <a:lstStyle/>
                    <a:p>
                      <a:pPr algn="r"/>
                      <a:r>
                        <a:rPr sz="1200" b="0">
                          <a:solidFill>
                            <a:srgbClr val="1F2937"/>
                          </a:solidFill>
                          <a:latin typeface="Calibri"/>
                        </a:rPr>
                        <a:t>148 KB</a:t>
                      </a:r>
                    </a:p>
                  </a:txBody>
                  <a:tcPr marL="45720" marR="45720" anchor="ctr">
                    <a:solidFill>
                      <a:srgbClr val="FFFFFF"/>
                    </a:solidFill>
                  </a:tcPr>
                </a:tc>
                <a:tc>
                  <a:txBody>
                    <a:bodyPr/>
                    <a:lstStyle/>
                    <a:p>
                      <a:pPr algn="r"/>
                      <a:r>
                        <a:rPr sz="1200" b="0">
                          <a:solidFill>
                            <a:srgbClr val="1F2937"/>
                          </a:solidFill>
                          <a:latin typeface="Calibri"/>
                        </a:rPr>
                        <a:t>15 s</a:t>
                      </a:r>
                    </a:p>
                  </a:txBody>
                  <a:tcPr marL="45720" marR="45720" anchor="ctr">
                    <a:solidFill>
                      <a:srgbClr val="FFFFFF"/>
                    </a:solidFill>
                  </a:tcPr>
                </a:tc>
                <a:tc>
                  <a:txBody>
                    <a:bodyPr/>
                    <a:lstStyle/>
                    <a:p>
                      <a:pPr algn="r"/>
                      <a:r>
                        <a:rPr sz="1200" b="0">
                          <a:solidFill>
                            <a:srgbClr val="1F2937"/>
                          </a:solidFill>
                          <a:latin typeface="Calibri"/>
                        </a:rPr>
                        <a:t>1,525k</a:t>
                      </a:r>
                    </a:p>
                  </a:txBody>
                  <a:tcPr marL="45720" marR="45720" anchor="ctr">
                    <a:solidFill>
                      <a:srgbClr val="FFFFFF"/>
                    </a:solidFill>
                  </a:tcPr>
                </a:tc>
              </a:tr>
              <a:tr h="441960">
                <a:tc>
                  <a:txBody>
                    <a:bodyPr/>
                    <a:lstStyle/>
                    <a:p>
                      <a:pPr algn="l"/>
                      <a:r>
                        <a:rPr sz="1200" b="1">
                          <a:solidFill>
                            <a:srgbClr val="1B2A4A"/>
                          </a:solidFill>
                          <a:latin typeface="Calibri"/>
                        </a:rPr>
                        <a:t>Random Forest</a:t>
                      </a:r>
                    </a:p>
                  </a:txBody>
                  <a:tcPr marL="45720" marR="45720" anchor="ctr">
                    <a:solidFill>
                      <a:srgbClr val="FFFFFF"/>
                    </a:solidFill>
                  </a:tcPr>
                </a:tc>
                <a:tc>
                  <a:txBody>
                    <a:bodyPr/>
                    <a:lstStyle/>
                    <a:p>
                      <a:pPr algn="r"/>
                      <a:r>
                        <a:rPr sz="1200" b="0">
                          <a:solidFill>
                            <a:srgbClr val="1F2937"/>
                          </a:solidFill>
                          <a:latin typeface="Calibri"/>
                        </a:rPr>
                        <a:t>2.7 MB</a:t>
                      </a:r>
                    </a:p>
                  </a:txBody>
                  <a:tcPr marL="45720" marR="45720" anchor="ctr">
                    <a:solidFill>
                      <a:srgbClr val="FFFFFF"/>
                    </a:solidFill>
                  </a:tcPr>
                </a:tc>
                <a:tc>
                  <a:txBody>
                    <a:bodyPr/>
                    <a:lstStyle/>
                    <a:p>
                      <a:pPr algn="r"/>
                      <a:r>
                        <a:rPr sz="1200" b="0">
                          <a:solidFill>
                            <a:srgbClr val="1F2937"/>
                          </a:solidFill>
                          <a:latin typeface="Calibri"/>
                        </a:rPr>
                        <a:t>54 s</a:t>
                      </a:r>
                    </a:p>
                  </a:txBody>
                  <a:tcPr marL="45720" marR="45720" anchor="ctr">
                    <a:solidFill>
                      <a:srgbClr val="FFFFFF"/>
                    </a:solidFill>
                  </a:tcPr>
                </a:tc>
                <a:tc>
                  <a:txBody>
                    <a:bodyPr/>
                    <a:lstStyle/>
                    <a:p>
                      <a:pPr algn="r"/>
                      <a:r>
                        <a:rPr sz="1200" b="0">
                          <a:solidFill>
                            <a:srgbClr val="1F2937"/>
                          </a:solidFill>
                          <a:latin typeface="Calibri"/>
                        </a:rPr>
                        <a:t>367k</a:t>
                      </a:r>
                    </a:p>
                  </a:txBody>
                  <a:tcPr marL="45720" marR="45720" anchor="ctr">
                    <a:solidFill>
                      <a:srgbClr val="FFFFFF"/>
                    </a:solidFill>
                  </a:tcPr>
                </a:tc>
              </a:tr>
              <a:tr h="441960">
                <a:tc>
                  <a:txBody>
                    <a:bodyPr/>
                    <a:lstStyle/>
                    <a:p>
                      <a:pPr algn="l"/>
                      <a:r>
                        <a:rPr sz="1200" b="1">
                          <a:solidFill>
                            <a:srgbClr val="1B2A4A"/>
                          </a:solidFill>
                          <a:latin typeface="Calibri"/>
                        </a:rPr>
                        <a:t>XGBoost</a:t>
                      </a:r>
                    </a:p>
                  </a:txBody>
                  <a:tcPr marL="45720" marR="45720" anchor="ctr">
                    <a:solidFill>
                      <a:srgbClr val="E4EAF6"/>
                    </a:solidFill>
                  </a:tcPr>
                </a:tc>
                <a:tc>
                  <a:txBody>
                    <a:bodyPr/>
                    <a:lstStyle/>
                    <a:p>
                      <a:pPr algn="r"/>
                      <a:r>
                        <a:rPr sz="1200" b="0">
                          <a:solidFill>
                            <a:srgbClr val="1F2937"/>
                          </a:solidFill>
                          <a:latin typeface="Calibri"/>
                        </a:rPr>
                        <a:t>857 KB</a:t>
                      </a:r>
                    </a:p>
                  </a:txBody>
                  <a:tcPr marL="45720" marR="45720" anchor="ctr">
                    <a:solidFill>
                      <a:srgbClr val="E4EAF6"/>
                    </a:solidFill>
                  </a:tcPr>
                </a:tc>
                <a:tc>
                  <a:txBody>
                    <a:bodyPr/>
                    <a:lstStyle/>
                    <a:p>
                      <a:pPr algn="r"/>
                      <a:r>
                        <a:rPr sz="1200" b="0">
                          <a:solidFill>
                            <a:srgbClr val="1F2937"/>
                          </a:solidFill>
                          <a:latin typeface="Calibri"/>
                        </a:rPr>
                        <a:t>30 s</a:t>
                      </a:r>
                    </a:p>
                  </a:txBody>
                  <a:tcPr marL="45720" marR="45720" anchor="ctr">
                    <a:solidFill>
                      <a:srgbClr val="E4EAF6"/>
                    </a:solidFill>
                  </a:tcPr>
                </a:tc>
                <a:tc>
                  <a:txBody>
                    <a:bodyPr/>
                    <a:lstStyle/>
                    <a:p>
                      <a:pPr algn="r"/>
                      <a:r>
                        <a:rPr sz="1200" b="0">
                          <a:solidFill>
                            <a:srgbClr val="1F2937"/>
                          </a:solidFill>
                          <a:latin typeface="Calibri"/>
                        </a:rPr>
                        <a:t>274k</a:t>
                      </a:r>
                    </a:p>
                  </a:txBody>
                  <a:tcPr marL="45720" marR="45720" anchor="ctr">
                    <a:solidFill>
                      <a:srgbClr val="E4EAF6"/>
                    </a:solidFill>
                  </a:tcPr>
                </a:tc>
              </a:tr>
            </a:tbl>
          </a:graphicData>
        </a:graphic>
      </p:graphicFrame>
      <p:sp>
        <p:nvSpPr>
          <p:cNvPr id="7" name="Rounded Rectangle 6"/>
          <p:cNvSpPr/>
          <p:nvPr/>
        </p:nvSpPr>
        <p:spPr>
          <a:xfrm>
            <a:off x="6812280" y="4617720"/>
            <a:ext cx="4828032" cy="160020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4800600"/>
            <a:ext cx="4370832" cy="123444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XGBoost: best accuracy-to-cost trade-off</a:t>
            </a:r>
          </a:p>
          <a:p>
            <a:pPr algn="l">
              <a:spcAft>
                <a:spcPts val="400"/>
              </a:spcAft>
            </a:pPr>
            <a:r>
              <a:rPr sz="1300" b="0" i="0">
                <a:solidFill>
                  <a:srgbClr val="1F2937"/>
                </a:solidFill>
                <a:latin typeface="Calibri"/>
              </a:rPr>
              <a:t>Ties Random Forest on F1 at 9× lower latency and ~3× smaller. SVM is fast per flow but slowest in batch (~20k flows/s). Real detection delay is dominated by flow completion (up to a 120 s timeout).</a:t>
            </a:r>
          </a:p>
        </p:txBody>
      </p:sp>
      <p:sp>
        <p:nvSpPr>
          <p:cNvPr id="9" name="TextBox 8"/>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0" name="TextBox 9"/>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Explainability (SHAP)</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What drives XGBoost's decisions: top-10 features by mean |SHAP value|</a:t>
            </a:r>
          </a:p>
        </p:txBody>
      </p:sp>
      <p:graphicFrame>
        <p:nvGraphicFramePr>
          <p:cNvPr id="5" name="Chart 4"/>
          <p:cNvGraphicFramePr>
            <a:graphicFrameLocks noGrp="1"/>
          </p:cNvGraphicFramePr>
          <p:nvPr/>
        </p:nvGraphicFramePr>
        <p:xfrm>
          <a:off x="548640" y="1691640"/>
          <a:ext cx="676656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7680960" y="1783080"/>
            <a:ext cx="3959352" cy="210312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965960"/>
            <a:ext cx="3502152" cy="173736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Packet sizes dominate</a:t>
            </a:r>
          </a:p>
          <a:p>
            <a:pPr algn="l">
              <a:spcAft>
                <a:spcPts val="400"/>
              </a:spcAft>
            </a:pPr>
            <a:r>
              <a:rPr sz="1300" b="0" i="0">
                <a:solidFill>
                  <a:srgbClr val="1F2937"/>
                </a:solidFill>
                <a:latin typeface="Calibri"/>
              </a:rPr>
              <a:t>Backward/forward packet length statistics lead. This is defensible: DoS floods, scans and web attacks have characteristic request and response sizes.</a:t>
            </a:r>
          </a:p>
        </p:txBody>
      </p:sp>
      <p:sp>
        <p:nvSpPr>
          <p:cNvPr id="8" name="Rounded Rectangle 7"/>
          <p:cNvSpPr/>
          <p:nvPr/>
        </p:nvSpPr>
        <p:spPr>
          <a:xfrm>
            <a:off x="7680960" y="4023360"/>
            <a:ext cx="3959352" cy="2194560"/>
          </a:xfrm>
          <a:prstGeom prst="roundRect">
            <a:avLst>
              <a:gd name="adj" fmla="val 6000"/>
            </a:avLst>
          </a:prstGeom>
          <a:solidFill>
            <a:srgbClr val="FCE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4206240"/>
            <a:ext cx="3502152" cy="1828800"/>
          </a:xfrm>
          <a:prstGeom prst="rect">
            <a:avLst/>
          </a:prstGeom>
          <a:noFill/>
        </p:spPr>
        <p:txBody>
          <a:bodyPr wrap="square" lIns="0" rIns="0" tIns="0" bIns="0" anchor="t">
            <a:spAutoFit/>
          </a:bodyPr>
          <a:lstStyle/>
          <a:p>
            <a:pPr algn="l">
              <a:spcAft>
                <a:spcPts val="400"/>
              </a:spcAft>
            </a:pPr>
            <a:r>
              <a:rPr sz="1500" b="1" i="0">
                <a:solidFill>
                  <a:srgbClr val="C0392B"/>
                </a:solidFill>
                <a:latin typeface="Calibri"/>
              </a:rPr>
              <a:t>Red flag: Bwd Init Win Bytes is #2</a:t>
            </a:r>
          </a:p>
          <a:p>
            <a:pPr algn="l">
              <a:spcAft>
                <a:spcPts val="400"/>
              </a:spcAft>
            </a:pPr>
            <a:r>
              <a:rPr sz="1300" b="0" i="0">
                <a:solidFill>
                  <a:srgbClr val="1F2937"/>
                </a:solidFill>
                <a:latin typeface="Calibri"/>
              </a:rPr>
              <a:t>The initial TCP window reflects the host operating system and testbed, not the attack. A model leaning on it learns the lab, which matches the cross-dataset collapse.</a:t>
            </a:r>
          </a:p>
        </p:txBody>
      </p:sp>
      <p:sp>
        <p:nvSpPr>
          <p:cNvPr id="10" name="TextBox 9"/>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1" name="TextBox 10"/>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Unseen Attacks: Leave-One-Attack-Out</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Binary XGBoost trained without one attack family, then tested on that family</a:t>
            </a:r>
          </a:p>
        </p:txBody>
      </p:sp>
      <p:graphicFrame>
        <p:nvGraphicFramePr>
          <p:cNvPr id="5" name="Chart 4"/>
          <p:cNvGraphicFramePr>
            <a:graphicFrameLocks noGrp="1"/>
          </p:cNvGraphicFramePr>
          <p:nvPr/>
        </p:nvGraphicFramePr>
        <p:xfrm>
          <a:off x="548640" y="1691640"/>
          <a:ext cx="731520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8229600" y="1783080"/>
            <a:ext cx="3410712" cy="2103120"/>
          </a:xfrm>
          <a:prstGeom prst="roundRect">
            <a:avLst>
              <a:gd name="adj" fmla="val 6000"/>
            </a:avLst>
          </a:prstGeom>
          <a:solidFill>
            <a:srgbClr val="FCE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965960"/>
            <a:ext cx="2953512" cy="173736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Default threshold: ~0%</a:t>
            </a:r>
          </a:p>
          <a:p>
            <a:pPr algn="l">
              <a:spcAft>
                <a:spcPts val="400"/>
              </a:spcAft>
            </a:pPr>
            <a:r>
              <a:rPr sz="1300" b="0" i="0">
                <a:solidFill>
                  <a:srgbClr val="1F2937"/>
                </a:solidFill>
                <a:latin typeface="Calibri"/>
              </a:rPr>
              <a:t>Except DDoS (similar to DoS), held-out families are almost never flagged; the zero-day claim fails as deployed.</a:t>
            </a:r>
          </a:p>
        </p:txBody>
      </p:sp>
      <p:sp>
        <p:nvSpPr>
          <p:cNvPr id="8" name="Rounded Rectangle 7"/>
          <p:cNvSpPr/>
          <p:nvPr/>
        </p:nvSpPr>
        <p:spPr>
          <a:xfrm>
            <a:off x="8229600" y="4023360"/>
            <a:ext cx="3410712" cy="219456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206240"/>
            <a:ext cx="2953512" cy="182880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Signal is partly there</a:t>
            </a:r>
          </a:p>
          <a:p>
            <a:pPr algn="l">
              <a:spcAft>
                <a:spcPts val="400"/>
              </a:spcAft>
            </a:pPr>
            <a:r>
              <a:rPr sz="1300" b="0" i="0">
                <a:solidFill>
                  <a:srgbClr val="1F2937"/>
                </a:solidFill>
                <a:latin typeface="Calibri"/>
              </a:rPr>
              <a:t>Scores still rank unseen flows above benign (ROC-AUC 0.96–1.00). Re-tuning the threshold recovers DoS, Botnet and Infiltration, but not port scans, brute force or web attacks.</a:t>
            </a:r>
          </a:p>
        </p:txBody>
      </p:sp>
      <p:sp>
        <p:nvSpPr>
          <p:cNvPr id="10" name="TextBox 9"/>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1" name="TextBox 10"/>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1064240" cy="640080"/>
          </a:xfrm>
          <a:prstGeom prst="rect">
            <a:avLst/>
          </a:prstGeom>
          <a:noFill/>
        </p:spPr>
        <p:txBody>
          <a:bodyPr wrap="square" lIns="0" rIns="0" tIns="0" bIns="0" anchor="t">
            <a:spAutoFit/>
          </a:bodyPr>
          <a:lstStyle/>
          <a:p>
            <a:pPr algn="l">
              <a:spcAft>
                <a:spcPts val="0"/>
              </a:spcAft>
            </a:pPr>
            <a:r>
              <a:rPr sz="3400" b="1" i="0">
                <a:solidFill>
                  <a:srgbClr val="1B2A4A"/>
                </a:solidFill>
                <a:latin typeface="Cambria"/>
              </a:rPr>
              <a:t>Cross-Dataset Generalisation</a:t>
            </a:r>
          </a:p>
        </p:txBody>
      </p:sp>
      <p:sp>
        <p:nvSpPr>
          <p:cNvPr id="4" name="TextBox 3"/>
          <p:cNvSpPr txBox="1"/>
          <p:nvPr/>
        </p:nvSpPr>
        <p:spPr>
          <a:xfrm>
            <a:off x="548640" y="1188720"/>
            <a:ext cx="11064240" cy="365760"/>
          </a:xfrm>
          <a:prstGeom prst="rect">
            <a:avLst/>
          </a:prstGeom>
          <a:noFill/>
        </p:spPr>
        <p:txBody>
          <a:bodyPr wrap="square" lIns="0" rIns="0" tIns="0" bIns="0" anchor="t">
            <a:spAutoFit/>
          </a:bodyPr>
          <a:lstStyle/>
          <a:p>
            <a:pPr algn="l">
              <a:spcAft>
                <a:spcPts val="0"/>
              </a:spcAft>
            </a:pPr>
            <a:r>
              <a:rPr sz="1500" b="0" i="1">
                <a:solidFill>
                  <a:srgbClr val="5B6B82"/>
                </a:solidFill>
                <a:latin typeface="Calibri"/>
              </a:rPr>
              <a:t>Trained on CICIDS2017, tested with no retraining on corrected CSE-CIC-IDS2018 (benign vs attack)</a:t>
            </a:r>
          </a:p>
        </p:txBody>
      </p:sp>
      <p:graphicFrame>
        <p:nvGraphicFramePr>
          <p:cNvPr id="5" name="Chart 4"/>
          <p:cNvGraphicFramePr>
            <a:graphicFrameLocks noGrp="1"/>
          </p:cNvGraphicFramePr>
          <p:nvPr/>
        </p:nvGraphicFramePr>
        <p:xfrm>
          <a:off x="548640" y="1691640"/>
          <a:ext cx="694944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7863840" y="1783080"/>
            <a:ext cx="3776472" cy="182880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920240"/>
            <a:ext cx="3383280" cy="822960"/>
          </a:xfrm>
          <a:prstGeom prst="rect">
            <a:avLst/>
          </a:prstGeom>
          <a:noFill/>
        </p:spPr>
        <p:txBody>
          <a:bodyPr wrap="square" lIns="0" rIns="0" tIns="0" bIns="0" anchor="t">
            <a:spAutoFit/>
          </a:bodyPr>
          <a:lstStyle/>
          <a:p>
            <a:pPr algn="l">
              <a:spcAft>
                <a:spcPts val="0"/>
              </a:spcAft>
            </a:pPr>
            <a:r>
              <a:rPr sz="4800" b="1" i="0">
                <a:solidFill>
                  <a:srgbClr val="F2A93B"/>
                </a:solidFill>
                <a:latin typeface="Cambria"/>
              </a:rPr>
              <a:t>0.3%</a:t>
            </a:r>
          </a:p>
        </p:txBody>
      </p:sp>
      <p:sp>
        <p:nvSpPr>
          <p:cNvPr id="8" name="TextBox 7"/>
          <p:cNvSpPr txBox="1"/>
          <p:nvPr/>
        </p:nvSpPr>
        <p:spPr>
          <a:xfrm>
            <a:off x="8092440" y="2788920"/>
            <a:ext cx="3383280" cy="731520"/>
          </a:xfrm>
          <a:prstGeom prst="rect">
            <a:avLst/>
          </a:prstGeom>
          <a:noFill/>
        </p:spPr>
        <p:txBody>
          <a:bodyPr wrap="square" lIns="0" rIns="0" tIns="0" bIns="0" anchor="t">
            <a:spAutoFit/>
          </a:bodyPr>
          <a:lstStyle/>
          <a:p>
            <a:pPr algn="l">
              <a:spcAft>
                <a:spcPts val="0"/>
              </a:spcAft>
            </a:pPr>
            <a:r>
              <a:rPr sz="1300" b="0" i="0">
                <a:solidFill>
                  <a:srgbClr val="FFFFFF"/>
                </a:solidFill>
                <a:latin typeface="Calibri"/>
              </a:rPr>
              <a:t>of 2018 attacks detected by Random Forest / XGBoost (in-distribution F1 0.9998)</a:t>
            </a:r>
          </a:p>
        </p:txBody>
      </p:sp>
      <p:sp>
        <p:nvSpPr>
          <p:cNvPr id="9" name="Rounded Rectangle 8"/>
          <p:cNvSpPr/>
          <p:nvPr/>
        </p:nvSpPr>
        <p:spPr>
          <a:xfrm>
            <a:off x="7863840" y="3749039"/>
            <a:ext cx="3776472" cy="2468880"/>
          </a:xfrm>
          <a:prstGeom prst="roundRect">
            <a:avLst>
              <a:gd name="adj" fmla="val 6000"/>
            </a:avLst>
          </a:prstGeom>
          <a:solidFill>
            <a:srgbClr val="E4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3931920"/>
            <a:ext cx="3319272" cy="2103120"/>
          </a:xfrm>
          <a:prstGeom prst="rect">
            <a:avLst/>
          </a:prstGeom>
          <a:noFill/>
        </p:spPr>
        <p:txBody>
          <a:bodyPr wrap="square" lIns="0" rIns="0" tIns="0" bIns="0" anchor="t">
            <a:spAutoFit/>
          </a:bodyPr>
          <a:lstStyle/>
          <a:p>
            <a:pPr algn="l">
              <a:spcAft>
                <a:spcPts val="400"/>
              </a:spcAft>
            </a:pPr>
            <a:r>
              <a:rPr sz="1500" b="1" i="0">
                <a:solidFill>
                  <a:srgbClr val="1B2A4A"/>
                </a:solidFill>
                <a:latin typeface="Calibri"/>
              </a:rPr>
              <a:t>Simplest model transfers best</a:t>
            </a:r>
          </a:p>
          <a:p>
            <a:pPr algn="l">
              <a:spcAft>
                <a:spcPts val="400"/>
              </a:spcAft>
            </a:pPr>
            <a:r>
              <a:rPr sz="1300" b="0" i="0">
                <a:solidFill>
                  <a:srgbClr val="1F2937"/>
                </a:solidFill>
                <a:latin typeface="Calibri"/>
              </a:rPr>
              <a:t>Logistic Regression keeps F1 0.42 (recall 27%, ROC-AUC 0.83). Even at a 1% FPR threshold no model exceeds 22% recall: this is distribution shift, not a threshold problem.</a:t>
            </a:r>
          </a:p>
        </p:txBody>
      </p:sp>
      <p:sp>
        <p:nvSpPr>
          <p:cNvPr id="11" name="TextBox 10"/>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5B6B82"/>
                </a:solidFill>
                <a:latin typeface="Calibri"/>
              </a:rPr>
              <a:t>ML-Based Network Intrusion Detection  |  Simulation Results</a:t>
            </a:r>
          </a:p>
        </p:txBody>
      </p:sp>
      <p:sp>
        <p:nvSpPr>
          <p:cNvPr id="12" name="TextBox 11"/>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5B6B82"/>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100" b="1" i="0">
                <a:solidFill>
                  <a:srgbClr val="F2A93B"/>
                </a:solidFill>
                <a:latin typeface="Calibri"/>
              </a:rPr>
              <a:t>SIMULATION RESULTS</a:t>
            </a:r>
          </a:p>
        </p:txBody>
      </p:sp>
      <p:sp>
        <p:nvSpPr>
          <p:cNvPr id="3" name="TextBox 2"/>
          <p:cNvSpPr txBox="1"/>
          <p:nvPr/>
        </p:nvSpPr>
        <p:spPr>
          <a:xfrm>
            <a:off x="548640" y="566928"/>
            <a:ext cx="1097280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mbria"/>
              </a:rPr>
              <a:t>Conclusions</a:t>
            </a:r>
          </a:p>
        </p:txBody>
      </p:sp>
      <p:sp>
        <p:nvSpPr>
          <p:cNvPr id="4" name="Oval 3"/>
          <p:cNvSpPr/>
          <p:nvPr/>
        </p:nvSpPr>
        <p:spPr>
          <a:xfrm>
            <a:off x="548640" y="1508760"/>
            <a:ext cx="640080" cy="6400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H1</a:t>
            </a:r>
          </a:p>
        </p:txBody>
      </p:sp>
      <p:sp>
        <p:nvSpPr>
          <p:cNvPr id="5" name="TextBox 4"/>
          <p:cNvSpPr txBox="1"/>
          <p:nvPr/>
        </p:nvSpPr>
        <p:spPr>
          <a:xfrm>
            <a:off x="1371600" y="1527048"/>
            <a:ext cx="4206240"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Ensembles beat the linear baseline</a:t>
            </a:r>
          </a:p>
        </p:txBody>
      </p:sp>
      <p:sp>
        <p:nvSpPr>
          <p:cNvPr id="6" name="TextBox 5"/>
          <p:cNvSpPr txBox="1"/>
          <p:nvPr/>
        </p:nvSpPr>
        <p:spPr>
          <a:xfrm>
            <a:off x="1371600" y="1856231"/>
            <a:ext cx="4389120" cy="320040"/>
          </a:xfrm>
          <a:prstGeom prst="rect">
            <a:avLst/>
          </a:prstGeom>
          <a:noFill/>
        </p:spPr>
        <p:txBody>
          <a:bodyPr wrap="square" lIns="0" rIns="0" tIns="0" bIns="0" anchor="t">
            <a:spAutoFit/>
          </a:bodyPr>
          <a:lstStyle/>
          <a:p>
            <a:pPr algn="l">
              <a:spcAft>
                <a:spcPts val="0"/>
              </a:spcAft>
            </a:pPr>
            <a:r>
              <a:rPr sz="1200" b="0" i="0">
                <a:solidFill>
                  <a:srgbClr val="C9D6EC"/>
                </a:solidFill>
                <a:latin typeface="Calibri"/>
              </a:rPr>
              <a:t>RF / XGBoost rank top, but the gap to MLP / SVM is not significant</a:t>
            </a:r>
          </a:p>
        </p:txBody>
      </p:sp>
      <p:sp>
        <p:nvSpPr>
          <p:cNvPr id="7" name="Rounded Rectangle 6"/>
          <p:cNvSpPr/>
          <p:nvPr/>
        </p:nvSpPr>
        <p:spPr>
          <a:xfrm>
            <a:off x="5760720" y="1618488"/>
            <a:ext cx="1737360" cy="420624"/>
          </a:xfrm>
          <a:prstGeom prst="roundRect">
            <a:avLst>
              <a:gd name="adj" fmla="val 6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618488"/>
            <a:ext cx="1737360" cy="420624"/>
          </a:xfrm>
          <a:prstGeom prst="rect">
            <a:avLst/>
          </a:prstGeom>
          <a:noFill/>
        </p:spPr>
        <p:txBody>
          <a:bodyPr wrap="square" lIns="0" rIns="0" tIns="0" bIns="0" anchor="ctr">
            <a:spAutoFit/>
          </a:bodyPr>
          <a:lstStyle/>
          <a:p>
            <a:pPr algn="ctr">
              <a:spcAft>
                <a:spcPts val="0"/>
              </a:spcAft>
            </a:pPr>
            <a:r>
              <a:rPr sz="1200" b="1" i="0">
                <a:solidFill>
                  <a:srgbClr val="1B2A4A"/>
                </a:solidFill>
                <a:latin typeface="Calibri"/>
              </a:rPr>
              <a:t>Partly supported</a:t>
            </a:r>
          </a:p>
        </p:txBody>
      </p:sp>
      <p:sp>
        <p:nvSpPr>
          <p:cNvPr id="9" name="Oval 8"/>
          <p:cNvSpPr/>
          <p:nvPr/>
        </p:nvSpPr>
        <p:spPr>
          <a:xfrm>
            <a:off x="548640" y="2377439"/>
            <a:ext cx="640080" cy="6400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H2</a:t>
            </a:r>
          </a:p>
        </p:txBody>
      </p:sp>
      <p:sp>
        <p:nvSpPr>
          <p:cNvPr id="10" name="TextBox 9"/>
          <p:cNvSpPr txBox="1"/>
          <p:nvPr/>
        </p:nvSpPr>
        <p:spPr>
          <a:xfrm>
            <a:off x="1371600" y="2395727"/>
            <a:ext cx="4206240"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Rare classes weak before SMOTE</a:t>
            </a:r>
          </a:p>
        </p:txBody>
      </p:sp>
      <p:sp>
        <p:nvSpPr>
          <p:cNvPr id="11" name="TextBox 10"/>
          <p:cNvSpPr txBox="1"/>
          <p:nvPr/>
        </p:nvSpPr>
        <p:spPr>
          <a:xfrm>
            <a:off x="1371600" y="2724911"/>
            <a:ext cx="4389120" cy="320040"/>
          </a:xfrm>
          <a:prstGeom prst="rect">
            <a:avLst/>
          </a:prstGeom>
          <a:noFill/>
        </p:spPr>
        <p:txBody>
          <a:bodyPr wrap="square" lIns="0" rIns="0" tIns="0" bIns="0" anchor="t">
            <a:spAutoFit/>
          </a:bodyPr>
          <a:lstStyle/>
          <a:p>
            <a:pPr algn="l">
              <a:spcAft>
                <a:spcPts val="0"/>
              </a:spcAft>
            </a:pPr>
            <a:r>
              <a:rPr sz="1200" b="0" i="0">
                <a:solidFill>
                  <a:srgbClr val="C9D6EC"/>
                </a:solidFill>
                <a:latin typeface="Calibri"/>
              </a:rPr>
              <a:t>Rare-class recall already high; SMOTE adds nothing significant</a:t>
            </a:r>
          </a:p>
        </p:txBody>
      </p:sp>
      <p:sp>
        <p:nvSpPr>
          <p:cNvPr id="12" name="Rounded Rectangle 11"/>
          <p:cNvSpPr/>
          <p:nvPr/>
        </p:nvSpPr>
        <p:spPr>
          <a:xfrm>
            <a:off x="5760720" y="2487168"/>
            <a:ext cx="1737360" cy="420624"/>
          </a:xfrm>
          <a:prstGeom prst="roundRect">
            <a:avLst>
              <a:gd name="adj" fmla="val 6000"/>
            </a:avLst>
          </a:prstGeom>
          <a:solidFill>
            <a:srgbClr val="3B4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2487168"/>
            <a:ext cx="1737360" cy="420624"/>
          </a:xfrm>
          <a:prstGeom prst="rect">
            <a:avLst/>
          </a:prstGeom>
          <a:noFill/>
        </p:spPr>
        <p:txBody>
          <a:bodyPr wrap="square" lIns="0" rIns="0" tIns="0" bIns="0" anchor="ctr">
            <a:spAutoFit/>
          </a:bodyPr>
          <a:lstStyle/>
          <a:p>
            <a:pPr algn="ctr">
              <a:spcAft>
                <a:spcPts val="0"/>
              </a:spcAft>
            </a:pPr>
            <a:r>
              <a:rPr sz="1200" b="1" i="0">
                <a:solidFill>
                  <a:srgbClr val="FFFFFF"/>
                </a:solidFill>
                <a:latin typeface="Calibri"/>
              </a:rPr>
              <a:t>Not supported</a:t>
            </a:r>
          </a:p>
        </p:txBody>
      </p:sp>
      <p:sp>
        <p:nvSpPr>
          <p:cNvPr id="14" name="Oval 13"/>
          <p:cNvSpPr/>
          <p:nvPr/>
        </p:nvSpPr>
        <p:spPr>
          <a:xfrm>
            <a:off x="548640" y="3246120"/>
            <a:ext cx="640080" cy="6400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H3</a:t>
            </a:r>
          </a:p>
        </p:txBody>
      </p:sp>
      <p:sp>
        <p:nvSpPr>
          <p:cNvPr id="15" name="TextBox 14"/>
          <p:cNvSpPr txBox="1"/>
          <p:nvPr/>
        </p:nvSpPr>
        <p:spPr>
          <a:xfrm>
            <a:off x="1371600" y="3264408"/>
            <a:ext cx="4206240"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RF / XGBoost best accuracy–latency</a:t>
            </a:r>
          </a:p>
        </p:txBody>
      </p:sp>
      <p:sp>
        <p:nvSpPr>
          <p:cNvPr id="16" name="TextBox 15"/>
          <p:cNvSpPr txBox="1"/>
          <p:nvPr/>
        </p:nvSpPr>
        <p:spPr>
          <a:xfrm>
            <a:off x="1371600" y="3593591"/>
            <a:ext cx="4389120" cy="320040"/>
          </a:xfrm>
          <a:prstGeom prst="rect">
            <a:avLst/>
          </a:prstGeom>
          <a:noFill/>
        </p:spPr>
        <p:txBody>
          <a:bodyPr wrap="square" lIns="0" rIns="0" tIns="0" bIns="0" anchor="t">
            <a:spAutoFit/>
          </a:bodyPr>
          <a:lstStyle/>
          <a:p>
            <a:pPr algn="l">
              <a:spcAft>
                <a:spcPts val="0"/>
              </a:spcAft>
            </a:pPr>
            <a:r>
              <a:rPr sz="1200" b="0" i="0">
                <a:solidFill>
                  <a:srgbClr val="C9D6EC"/>
                </a:solidFill>
                <a:latin typeface="Calibri"/>
              </a:rPr>
              <a:t>XGBoost: RF-level F1 at 9× lower latency; SVM cost untested (capped)</a:t>
            </a:r>
          </a:p>
        </p:txBody>
      </p:sp>
      <p:sp>
        <p:nvSpPr>
          <p:cNvPr id="17" name="Rounded Rectangle 16"/>
          <p:cNvSpPr/>
          <p:nvPr/>
        </p:nvSpPr>
        <p:spPr>
          <a:xfrm>
            <a:off x="5760720" y="3355848"/>
            <a:ext cx="1737360" cy="420624"/>
          </a:xfrm>
          <a:prstGeom prst="roundRect">
            <a:avLst>
              <a:gd name="adj" fmla="val 6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0" y="3355848"/>
            <a:ext cx="1737360" cy="420624"/>
          </a:xfrm>
          <a:prstGeom prst="rect">
            <a:avLst/>
          </a:prstGeom>
          <a:noFill/>
        </p:spPr>
        <p:txBody>
          <a:bodyPr wrap="square" lIns="0" rIns="0" tIns="0" bIns="0" anchor="ctr">
            <a:spAutoFit/>
          </a:bodyPr>
          <a:lstStyle/>
          <a:p>
            <a:pPr algn="ctr">
              <a:spcAft>
                <a:spcPts val="0"/>
              </a:spcAft>
            </a:pPr>
            <a:r>
              <a:rPr sz="1200" b="1" i="0">
                <a:solidFill>
                  <a:srgbClr val="1B2A4A"/>
                </a:solidFill>
                <a:latin typeface="Calibri"/>
              </a:rPr>
              <a:t>Partly supported</a:t>
            </a:r>
          </a:p>
        </p:txBody>
      </p:sp>
      <p:sp>
        <p:nvSpPr>
          <p:cNvPr id="19" name="Oval 18"/>
          <p:cNvSpPr/>
          <p:nvPr/>
        </p:nvSpPr>
        <p:spPr>
          <a:xfrm>
            <a:off x="548640" y="4114800"/>
            <a:ext cx="640080" cy="6400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B2A4A"/>
                </a:solidFill>
                <a:latin typeface="Cambria"/>
              </a:rPr>
              <a:t>H4</a:t>
            </a:r>
          </a:p>
        </p:txBody>
      </p:sp>
      <p:sp>
        <p:nvSpPr>
          <p:cNvPr id="20" name="TextBox 19"/>
          <p:cNvSpPr txBox="1"/>
          <p:nvPr/>
        </p:nvSpPr>
        <p:spPr>
          <a:xfrm>
            <a:off x="1371600" y="4133087"/>
            <a:ext cx="4206240"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Accuracy drops on a new dataset</a:t>
            </a:r>
          </a:p>
        </p:txBody>
      </p:sp>
      <p:sp>
        <p:nvSpPr>
          <p:cNvPr id="21" name="TextBox 20"/>
          <p:cNvSpPr txBox="1"/>
          <p:nvPr/>
        </p:nvSpPr>
        <p:spPr>
          <a:xfrm>
            <a:off x="1371600" y="4462272"/>
            <a:ext cx="4389120" cy="320040"/>
          </a:xfrm>
          <a:prstGeom prst="rect">
            <a:avLst/>
          </a:prstGeom>
          <a:noFill/>
        </p:spPr>
        <p:txBody>
          <a:bodyPr wrap="square" lIns="0" rIns="0" tIns="0" bIns="0" anchor="t">
            <a:spAutoFit/>
          </a:bodyPr>
          <a:lstStyle/>
          <a:p>
            <a:pPr algn="l">
              <a:spcAft>
                <a:spcPts val="0"/>
              </a:spcAft>
            </a:pPr>
            <a:r>
              <a:rPr sz="1200" b="0" i="0">
                <a:solidFill>
                  <a:srgbClr val="C9D6EC"/>
                </a:solidFill>
                <a:latin typeface="Calibri"/>
              </a:rPr>
              <a:t>RF / XGBoost 2018 F1 ≤ 0.01; detection 0.3%</a:t>
            </a:r>
          </a:p>
        </p:txBody>
      </p:sp>
      <p:sp>
        <p:nvSpPr>
          <p:cNvPr id="22" name="Rounded Rectangle 21"/>
          <p:cNvSpPr/>
          <p:nvPr/>
        </p:nvSpPr>
        <p:spPr>
          <a:xfrm>
            <a:off x="5760720" y="4224528"/>
            <a:ext cx="1737360" cy="420624"/>
          </a:xfrm>
          <a:prstGeom prst="roundRect">
            <a:avLst>
              <a:gd name="adj" fmla="val 6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4224528"/>
            <a:ext cx="1737360" cy="420624"/>
          </a:xfrm>
          <a:prstGeom prst="rect">
            <a:avLst/>
          </a:prstGeom>
          <a:noFill/>
        </p:spPr>
        <p:txBody>
          <a:bodyPr wrap="square" lIns="0" rIns="0" tIns="0" bIns="0" anchor="ctr">
            <a:spAutoFit/>
          </a:bodyPr>
          <a:lstStyle/>
          <a:p>
            <a:pPr algn="ctr">
              <a:spcAft>
                <a:spcPts val="0"/>
              </a:spcAft>
            </a:pPr>
            <a:r>
              <a:rPr sz="1200" b="1" i="0">
                <a:solidFill>
                  <a:srgbClr val="1B2A4A"/>
                </a:solidFill>
                <a:latin typeface="Calibri"/>
              </a:rPr>
              <a:t>Strongly supported</a:t>
            </a:r>
          </a:p>
        </p:txBody>
      </p:sp>
      <p:sp>
        <p:nvSpPr>
          <p:cNvPr id="24" name="Rounded Rectangle 23"/>
          <p:cNvSpPr/>
          <p:nvPr/>
        </p:nvSpPr>
        <p:spPr>
          <a:xfrm>
            <a:off x="7909560" y="1508760"/>
            <a:ext cx="3730752" cy="4114800"/>
          </a:xfrm>
          <a:prstGeom prst="roundRect">
            <a:avLst>
              <a:gd name="adj" fmla="val 6000"/>
            </a:avLst>
          </a:prstGeom>
          <a:solidFill>
            <a:srgbClr val="25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691640"/>
            <a:ext cx="3291840" cy="3840480"/>
          </a:xfrm>
          <a:prstGeom prst="rect">
            <a:avLst/>
          </a:prstGeom>
          <a:noFill/>
        </p:spPr>
        <p:txBody>
          <a:bodyPr wrap="square" lIns="0" rIns="0" tIns="0" bIns="0" anchor="t">
            <a:spAutoFit/>
          </a:bodyPr>
          <a:lstStyle/>
          <a:p>
            <a:pPr algn="l">
              <a:spcAft>
                <a:spcPts val="900"/>
              </a:spcAft>
            </a:pPr>
            <a:r>
              <a:rPr sz="1700" b="1" i="0">
                <a:solidFill>
                  <a:srgbClr val="F2A93B"/>
                </a:solidFill>
                <a:latin typeface="Calibri"/>
              </a:rPr>
              <a:t>Recommendation</a:t>
            </a:r>
          </a:p>
          <a:p>
            <a:pPr algn="l">
              <a:spcAft>
                <a:spcPts val="900"/>
              </a:spcAft>
            </a:pPr>
            <a:r>
              <a:rPr sz="1400" b="0" i="0">
                <a:solidFill>
                  <a:srgbClr val="FFFFFF"/>
                </a:solidFill>
                <a:latin typeface="Calibri"/>
              </a:rPr>
              <a:t>Deploy XGBoost (via ONNX) for attacks seen in training: 0.99+ F1, ~0.02 ms per flow.</a:t>
            </a:r>
          </a:p>
          <a:p>
            <a:pPr algn="l">
              <a:spcAft>
                <a:spcPts val="900"/>
              </a:spcAft>
            </a:pPr>
            <a:r>
              <a:rPr sz="1400" b="0" i="0">
                <a:solidFill>
                  <a:srgbClr val="FFFFFF"/>
                </a:solidFill>
                <a:latin typeface="Calibri"/>
              </a:rPr>
              <a:t>Do not take benchmark accuracy to a new network: retrain or adapt per site.</a:t>
            </a:r>
          </a:p>
          <a:p>
            <a:pPr algn="l">
              <a:spcAft>
                <a:spcPts val="900"/>
              </a:spcAft>
            </a:pPr>
            <a:r>
              <a:rPr sz="1400" b="0" i="0">
                <a:solidFill>
                  <a:srgbClr val="FFFFFF"/>
                </a:solidFill>
                <a:latin typeface="Calibri"/>
              </a:rPr>
              <a:t>Drop testbed-specific features such as Init Win Bytes and re-test generalisation.</a:t>
            </a:r>
          </a:p>
          <a:p>
            <a:pPr algn="l">
              <a:spcAft>
                <a:spcPts val="900"/>
              </a:spcAft>
            </a:pPr>
            <a:r>
              <a:rPr sz="1400" b="0" i="0">
                <a:solidFill>
                  <a:srgbClr val="FFFFFF"/>
                </a:solidFill>
                <a:latin typeface="Calibri"/>
              </a:rPr>
              <a:t>Tune alert thresholds on validation data instead of using 0.5.</a:t>
            </a:r>
          </a:p>
        </p:txBody>
      </p:sp>
      <p:sp>
        <p:nvSpPr>
          <p:cNvPr id="26" name="TextBox 25"/>
          <p:cNvSpPr txBox="1"/>
          <p:nvPr/>
        </p:nvSpPr>
        <p:spPr>
          <a:xfrm>
            <a:off x="548640" y="5166360"/>
            <a:ext cx="6949440" cy="731520"/>
          </a:xfrm>
          <a:prstGeom prst="rect">
            <a:avLst/>
          </a:prstGeom>
          <a:noFill/>
        </p:spPr>
        <p:txBody>
          <a:bodyPr wrap="square" lIns="0" rIns="0" tIns="0" bIns="0" anchor="t">
            <a:spAutoFit/>
          </a:bodyPr>
          <a:lstStyle/>
          <a:p>
            <a:pPr algn="l">
              <a:spcAft>
                <a:spcPts val="0"/>
              </a:spcAft>
            </a:pPr>
            <a:r>
              <a:rPr sz="1600" b="0" i="1">
                <a:solidFill>
                  <a:srgbClr val="C9D6EC"/>
                </a:solidFill>
                <a:latin typeface="Calibri"/>
              </a:rPr>
              <a:t>“Near-perfect benchmark scores measure how well a model learns the lab, not how well it protects a network.”</a:t>
            </a:r>
          </a:p>
        </p:txBody>
      </p:sp>
      <p:sp>
        <p:nvSpPr>
          <p:cNvPr id="27" name="TextBox 26"/>
          <p:cNvSpPr txBox="1"/>
          <p:nvPr/>
        </p:nvSpPr>
        <p:spPr>
          <a:xfrm>
            <a:off x="548640" y="6419088"/>
            <a:ext cx="7315200" cy="228600"/>
          </a:xfrm>
          <a:prstGeom prst="rect">
            <a:avLst/>
          </a:prstGeom>
          <a:noFill/>
        </p:spPr>
        <p:txBody>
          <a:bodyPr wrap="square" lIns="0" rIns="0" tIns="0" bIns="0" anchor="t">
            <a:spAutoFit/>
          </a:bodyPr>
          <a:lstStyle/>
          <a:p>
            <a:pPr algn="l">
              <a:spcAft>
                <a:spcPts val="0"/>
              </a:spcAft>
            </a:pPr>
            <a:r>
              <a:rPr sz="1000" b="0" i="0">
                <a:solidFill>
                  <a:srgbClr val="8FA0C0"/>
                </a:solidFill>
                <a:latin typeface="Calibri"/>
              </a:rPr>
              <a:t>ML-Based Network Intrusion Detection  |  Conclusions</a:t>
            </a:r>
          </a:p>
        </p:txBody>
      </p:sp>
      <p:sp>
        <p:nvSpPr>
          <p:cNvPr id="28" name="TextBox 27"/>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1000" b="0" i="0">
                <a:solidFill>
                  <a:srgbClr val="8FA0C0"/>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